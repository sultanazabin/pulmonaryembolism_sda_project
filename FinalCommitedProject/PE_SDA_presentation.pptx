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71" r:id="rId6"/>
    <p:sldId id="260" r:id="rId7"/>
    <p:sldId id="261" r:id="rId8"/>
    <p:sldId id="262" r:id="rId9"/>
    <p:sldId id="263" r:id="rId10"/>
    <p:sldId id="264" r:id="rId11"/>
    <p:sldId id="265" r:id="rId12"/>
    <p:sldId id="266" r:id="rId13"/>
    <p:sldId id="270"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5E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49" autoAdjust="0"/>
    <p:restoredTop sz="94610"/>
  </p:normalViewPr>
  <p:slideViewPr>
    <p:cSldViewPr snapToGrid="0" snapToObjects="1">
      <p:cViewPr>
        <p:scale>
          <a:sx n="91" d="100"/>
          <a:sy n="91" d="100"/>
        </p:scale>
        <p:origin x="81"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0916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Opening line: our project builds a model that looks at a patient's chest CT and flags whether they have a pulmonary embolism. The whole design is built around one idea: a sick patient should not be missed. We trained three models, compared them fairly, and deployed the best one as a Gradio app.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Explain PE simply: a clot travels to the lung arteries and blocks blood flow. It can be fatal, so missing it is the worst outcome. The diagnosis comes from CT pulmonary angiography: a scan with hundreds of thin slices, and the radiologist must check each one. That is slow and tiring, which is exactly where a screening model helps. Our model is not replacing the doctor; it flags patients so nobody slips through.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numbers: the full dataset has 7,279 studies; we used 1,500 to fit Kaggle's time and memory limits. About 32.5% of patients have PE, and we kept that ratio when sampling. But only around 6% of slices show a clot, because even in a sick patient most slices look normal. That slice imbalance is why we weight the loss later. Also mention: 34 scans first failed to load because they were compressed DICOMs; we installed the right decoders instead of dropping them, because dropping them could bias the splits.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through the pipeline left to right. HU: raw CT pixels are converted with RescaleSlope and RescaleIntercept so values mean real densities (air about -1000, water 0, contrast-filled blood high). 64 slices: full scans have hundreds of slices, which is too much for our budget, so we sample evenly. The cost of this is on the limitations slide. Windowing: we clip to the range where contrast-filled vessels and clots differ, so the model sees the useful contrast. Resize to 256 x 256 and save everything once, so training doesn't redo the slow DICOM reading. Preprocessing ran in parallel with 4 workers.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EFA3E-FCA7-BF05-D7F6-16AA3B770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2FE676-C0D6-B3F3-93B8-FF343C4C9F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C3A564-5E19-8646-1A61-E3899948C2FE}"/>
              </a:ext>
            </a:extLst>
          </p:cNvPr>
          <p:cNvSpPr>
            <a:spLocks noGrp="1"/>
          </p:cNvSpPr>
          <p:nvPr>
            <p:ph type="body" idx="1"/>
          </p:nvPr>
        </p:nvSpPr>
        <p:spPr/>
        <p:txBody>
          <a:bodyPr/>
          <a:lstStyle/>
          <a:p>
            <a:r>
              <a:rPr lang="en-US" dirty="0"/>
              <a:t>Walk through the pipeline left to right. HU: raw CT pixels are converted with RescaleSlope and RescaleIntercept so values mean real densities (air about -1000, water 0, contrast-filled blood high). 64 slices: full scans have hundreds of slices, which is too much for our budget, so we sample evenly. The cost of this is on the limitations slide. Windowing: we clip to the range where contrast-filled vessels and clots differ, so the model sees the useful contrast. Resize to 256 x 256 and save everything once, so training doesn't redo the slow DICOM reading. Preprocessing ran in parallel with 4 workers.</a:t>
            </a:r>
          </a:p>
        </p:txBody>
      </p:sp>
      <p:sp>
        <p:nvSpPr>
          <p:cNvPr id="4" name="Slide Number Placeholder 3">
            <a:extLst>
              <a:ext uri="{FF2B5EF4-FFF2-40B4-BE49-F238E27FC236}">
                <a16:creationId xmlns:a16="http://schemas.microsoft.com/office/drawing/2014/main" id="{45172BFD-1EE2-E218-B5CB-119E5CBE91E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64744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2.5D means: not a full 3D model, but more than one flat slice. The model sees a slice with its neighbors, so it gets a bit of depth cheaply. ResNet18 expects a 3-channel image, normalized with ImageNet mean and std; we replaced its 1000-class head with a single output and train with BCEWithLogitsLoss. To go from slices to a patient, we take the maximum slice score. Why max: PE is present if there is a clot anywhere, so one confident slice should be enough. The downside: one noisy slice can also flag a healthy patient, which costs precision.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instructor asked for three models. We change one thing at a time so the comparison means something. ResNet18 is the baseline. EfficientNet-B0 keeps everything identical and only swaps the backbone, so any difference comes from the network. COLIPRI is different in kind: a 3D vision-language model from Microsoft, pretrained on tens of thousands of chest CTs and their reports. We keep it frozen, extract one 768-number embedding per patient, and train a logistic regression on top. Caveat to mention: COLIPRI resamples to 2 mm, which may blur small clots, and it was not built specifically for PE.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two errors are not equal. A false negative means a sick patient goes home untreated; a false positive means a doctor looks again. So we optimize recall: of all sick patients, how many did we catch. Two tools: first, pos_weight in BCEWithLogitsLoss, about 16.6 for our training set, because clot slices are only about 6%. Second, threshold tuning: the default 0.5 cutoff is arbitrary, so we lower it until about 95% of sick validation patients are caught. Important: the threshold is chosen on validation only, never on test, otherwise the test numbers would be cheating.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Why split by patient: slices from the same patient look almost identical. If one patient's slices were in both train and test, the model could just recognize the patient, and the scores would be fake. So the split is done on patients: 1,050 train, 225 validation, 225 test, stratified so each keeps about a third sick. Why not accuracy: a model that calls everyone healthy already gets about 67.5% accuracy and catches nobody. Recall is the main goal; precision and specificity show we are not just flagging everyone; AUC is threshold-free and summarizes ranking quality. All metrics are patient-level.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Fill in the numbers before presenting. How to read them: first say recall for each model, since that's the goal. Then show that precision and specificity aren't near zero, which proves the model isn't just flagging everyone. Use AUC to compare models independent of the threshold. Remember the test set is small (about 73 sick patients), so one missed patient changes recall by about 1.4 points; small differences between models may just be noise.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instructor required Gradio with two interfaces: one where you upload an image, one using the camera. Both run the same model and the same threshold. Be honest if asked: the camera mode sees a photo of a screen, not real DICOM data with Hounsfield units, so its predictions are less reliable. It shows the pipeline works end to end; the upload mode is the meaningful one. Have the demo open before the talk in case the network is slow.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Most important limitation, and it's measured, not guessed: with only 64 evenly spaced slices, 38 of the 488 sick patients had no clot visible in any kept slice. Those patients are labeled sick but every slice they show the model is labeled clean, so a slice model will very likely miss them. That's why recall is capped near 92% even with a perfect model. Fix for future work: keep more slices (96 or 128). Small test set: with about 73 sick test patients, each miss moves recall by about 1.4 points.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Close with the one-sentence takeaway, then open for questions. Review the Q&amp;A slide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2F2F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31520"/>
          </a:xfrm>
          <a:prstGeom prst="rect">
            <a:avLst/>
          </a:prstGeom>
          <a:noFill/>
          <a:ln/>
        </p:spPr>
        <p:txBody>
          <a:bodyPr wrap="square" rtlCol="0"/>
          <a:lstStyle>
            <a:lvl1pPr marL="0" indent="0" algn="l">
              <a:buNone/>
              <a:defRPr lang="en-US" sz="3600" b="1" dirty="0">
                <a:solidFill>
                  <a:srgbClr val="1C1C1E"/>
                </a:solidFill>
                <a:latin typeface="Arial" pitchFamily="34" charset="0"/>
                <a:ea typeface="Arial" pitchFamily="34" charset="-122"/>
                <a:cs typeface="Arial" pitchFamily="34" charset="-120"/>
              </a:defRPr>
            </a:lvl1pPr>
          </a:lstStyle>
          <a:p>
            <a:pPr marL="0" indent="0" algn="l">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5E5E63"/>
                </a:solidFill>
                <a:latin typeface="Arial" pitchFamily="34" charset="0"/>
                <a:ea typeface="Arial" pitchFamily="34" charset="-122"/>
                <a:cs typeface="Arial" pitchFamily="34" charset="-120"/>
              </a:rPr>
              <a:t>Pulmonary embolism detection  ·  RSNA RSPECT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C1C1E"/>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7315200" cy="320040"/>
          </a:xfrm>
          <a:prstGeom prst="rect">
            <a:avLst/>
          </a:prstGeom>
          <a:noFill/>
          <a:ln/>
        </p:spPr>
        <p:txBody>
          <a:bodyPr wrap="square" lIns="0" tIns="0" rIns="0" bIns="0" rtlCol="0" anchor="t"/>
          <a:lstStyle/>
          <a:p>
            <a:pPr marL="0" indent="0">
              <a:buNone/>
            </a:pPr>
            <a:r>
              <a:rPr lang="en-US" sz="1400" b="1" kern="0" spc="150" dirty="0">
                <a:solidFill>
                  <a:srgbClr val="5AA9FF"/>
                </a:solidFill>
                <a:latin typeface="Arial" pitchFamily="34" charset="0"/>
                <a:ea typeface="Arial" pitchFamily="34" charset="-122"/>
                <a:cs typeface="Arial" pitchFamily="34" charset="-120"/>
              </a:rPr>
              <a:t>RSNA-STR PULMONARY EMBOLISM CT</a:t>
            </a:r>
            <a:endParaRPr lang="en-US" sz="1400" dirty="0"/>
          </a:p>
        </p:txBody>
      </p:sp>
      <p:sp>
        <p:nvSpPr>
          <p:cNvPr id="3" name="Text 1"/>
          <p:cNvSpPr txBox="1"/>
          <p:nvPr/>
        </p:nvSpPr>
        <p:spPr>
          <a:xfrm>
            <a:off x="731520" y="2416859"/>
            <a:ext cx="6949440" cy="1481956"/>
          </a:xfrm>
          <a:prstGeom prst="rect">
            <a:avLst/>
          </a:prstGeom>
          <a:noFill/>
          <a:ln/>
        </p:spPr>
        <p:txBody>
          <a:bodyPr wrap="square" lIns="0" tIns="0" rIns="0" bIns="0" rtlCol="0" anchor="t"/>
          <a:lstStyle/>
          <a:p>
            <a:pPr marL="0" indent="0">
              <a:buNone/>
            </a:pPr>
            <a:r>
              <a:rPr lang="en-US" sz="3200" b="1" dirty="0">
                <a:solidFill>
                  <a:srgbClr val="F2F2F7"/>
                </a:solidFill>
                <a:latin typeface="Arial" pitchFamily="34" charset="0"/>
                <a:ea typeface="Arial" pitchFamily="34" charset="-122"/>
                <a:cs typeface="Arial" pitchFamily="34" charset="-120"/>
              </a:rPr>
              <a:t>Pulmonary Embolism SDA Project:</a:t>
            </a:r>
          </a:p>
          <a:p>
            <a:pPr marL="0" indent="0">
              <a:buNone/>
            </a:pPr>
            <a:r>
              <a:rPr lang="en-US" sz="3200" dirty="0">
                <a:solidFill>
                  <a:srgbClr val="F2F2F7"/>
                </a:solidFill>
                <a:latin typeface="Arial" pitchFamily="34" charset="0"/>
                <a:ea typeface="Arial" pitchFamily="34" charset="-122"/>
                <a:cs typeface="Arial" pitchFamily="34" charset="-120"/>
              </a:rPr>
              <a:t>Catching pulmonary embolism before it's missed</a:t>
            </a:r>
            <a:endParaRPr lang="en-US" sz="3200" dirty="0"/>
          </a:p>
        </p:txBody>
      </p:sp>
      <p:sp>
        <p:nvSpPr>
          <p:cNvPr id="4" name="Text 2"/>
          <p:cNvSpPr txBox="1"/>
          <p:nvPr/>
        </p:nvSpPr>
        <p:spPr>
          <a:xfrm>
            <a:off x="731520" y="4206240"/>
            <a:ext cx="6949440" cy="457200"/>
          </a:xfrm>
          <a:prstGeom prst="rect">
            <a:avLst/>
          </a:prstGeom>
          <a:noFill/>
          <a:ln/>
        </p:spPr>
        <p:txBody>
          <a:bodyPr wrap="square" lIns="0" tIns="0" rIns="0" bIns="0" rtlCol="0" anchor="t"/>
          <a:lstStyle/>
          <a:p>
            <a:pPr marL="0" indent="0">
              <a:buNone/>
            </a:pPr>
            <a:endParaRPr lang="en-US" sz="2000" dirty="0"/>
          </a:p>
        </p:txBody>
      </p:sp>
      <p:sp>
        <p:nvSpPr>
          <p:cNvPr id="6" name="Shape 4"/>
          <p:cNvSpPr/>
          <p:nvPr/>
        </p:nvSpPr>
        <p:spPr>
          <a:xfrm>
            <a:off x="8229600" y="1463040"/>
            <a:ext cx="3200400" cy="3200400"/>
          </a:xfrm>
          <a:prstGeom prst="roundRect">
            <a:avLst>
              <a:gd name="adj" fmla="val 17143"/>
            </a:avLst>
          </a:prstGeom>
          <a:solidFill>
            <a:srgbClr val="2C2C2E"/>
          </a:solidFill>
          <a:ln w="12700">
            <a:solidFill>
              <a:srgbClr val="2C2C2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915400" y="2148840"/>
            <a:ext cx="18288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300" b="1" kern="0" spc="150" dirty="0">
                <a:solidFill>
                  <a:srgbClr val="0058B8"/>
                </a:solidFill>
                <a:latin typeface="Arial" pitchFamily="34" charset="0"/>
                <a:ea typeface="Arial" pitchFamily="34" charset="-122"/>
                <a:cs typeface="Arial" pitchFamily="34" charset="-120"/>
              </a:rPr>
              <a:t>01 · THE PROBLEM</a:t>
            </a:r>
            <a:endParaRPr lang="en-US" sz="1300" dirty="0"/>
          </a:p>
        </p:txBody>
      </p:sp>
      <p:sp>
        <p:nvSpPr>
          <p:cNvPr id="3" name="Text 0"/>
          <p:cNvSpPr>
            <a:spLocks noGrp="1"/>
          </p:cNvSpPr>
          <p:nvPr>
            <p:ph type="title" idx="100"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600" b="1" dirty="0">
                <a:solidFill>
                  <a:srgbClr val="1C1C1E"/>
                </a:solidFill>
                <a:latin typeface="Arial" pitchFamily="34" charset="0"/>
                <a:ea typeface="Arial" pitchFamily="34" charset="-122"/>
                <a:cs typeface="Arial" pitchFamily="34" charset="-120"/>
              </a:rPr>
              <a:t>A missed clot can be fatal</a:t>
            </a:r>
            <a:endParaRPr lang="en-US" sz="3600" dirty="0"/>
          </a:p>
        </p:txBody>
      </p:sp>
      <p:sp>
        <p:nvSpPr>
          <p:cNvPr id="4" name="problem-0"/>
          <p:cNvSpPr/>
          <p:nvPr/>
        </p:nvSpPr>
        <p:spPr>
          <a:xfrm>
            <a:off x="548640" y="1828800"/>
            <a:ext cx="3502152" cy="3931920"/>
          </a:xfrm>
          <a:prstGeom prst="roundRect">
            <a:avLst>
              <a:gd name="adj" fmla="val 4700"/>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5" name="Shape 3"/>
          <p:cNvSpPr/>
          <p:nvPr/>
        </p:nvSpPr>
        <p:spPr>
          <a:xfrm>
            <a:off x="914400" y="2240280"/>
            <a:ext cx="822960" cy="822960"/>
          </a:xfrm>
          <a:prstGeom prst="ellipse">
            <a:avLst/>
          </a:prstGeom>
          <a:solidFill>
            <a:srgbClr val="FFE9E7"/>
          </a:solidFill>
          <a:ln w="12700">
            <a:solidFill>
              <a:srgbClr val="FFE9E7"/>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95451" y="2421331"/>
            <a:ext cx="460858" cy="460858"/>
          </a:xfrm>
          <a:prstGeom prst="rect">
            <a:avLst/>
          </a:prstGeom>
        </p:spPr>
      </p:pic>
      <p:sp>
        <p:nvSpPr>
          <p:cNvPr id="7" name="Text 4"/>
          <p:cNvSpPr txBox="1"/>
          <p:nvPr/>
        </p:nvSpPr>
        <p:spPr>
          <a:xfrm>
            <a:off x="914400" y="3337560"/>
            <a:ext cx="2770632" cy="457200"/>
          </a:xfrm>
          <a:prstGeom prst="rect">
            <a:avLst/>
          </a:prstGeom>
          <a:noFill/>
          <a:ln/>
        </p:spPr>
        <p:txBody>
          <a:bodyPr wrap="square" lIns="0" tIns="0" rIns="0" bIns="0" rtlCol="0" anchor="t"/>
          <a:lstStyle/>
          <a:p>
            <a:pPr marL="0" indent="0">
              <a:buNone/>
            </a:pPr>
            <a:r>
              <a:rPr lang="en-US" sz="2200" b="1" dirty="0">
                <a:solidFill>
                  <a:srgbClr val="1C1C1E"/>
                </a:solidFill>
                <a:latin typeface="Arial" pitchFamily="34" charset="0"/>
                <a:ea typeface="Arial" pitchFamily="34" charset="-122"/>
                <a:cs typeface="Arial" pitchFamily="34" charset="-120"/>
              </a:rPr>
              <a:t>What PE is</a:t>
            </a:r>
            <a:endParaRPr lang="en-US" sz="2200" dirty="0"/>
          </a:p>
        </p:txBody>
      </p:sp>
      <p:sp>
        <p:nvSpPr>
          <p:cNvPr id="8" name="Text 5"/>
          <p:cNvSpPr txBox="1"/>
          <p:nvPr/>
        </p:nvSpPr>
        <p:spPr>
          <a:xfrm>
            <a:off x="914400" y="3886200"/>
            <a:ext cx="2770632" cy="1645920"/>
          </a:xfrm>
          <a:prstGeom prst="rect">
            <a:avLst/>
          </a:prstGeom>
          <a:noFill/>
          <a:ln/>
        </p:spPr>
        <p:txBody>
          <a:bodyPr wrap="square" lIns="0" tIns="0" rIns="0" bIns="0" rtlCol="0" anchor="t"/>
          <a:lstStyle/>
          <a:p>
            <a:pPr marL="0" indent="0">
              <a:lnSpc>
                <a:spcPct val="115000"/>
              </a:lnSpc>
              <a:buNone/>
            </a:pPr>
            <a:r>
              <a:rPr lang="en-US" sz="1600" dirty="0">
                <a:solidFill>
                  <a:srgbClr val="5E5E63"/>
                </a:solidFill>
                <a:latin typeface="Arial" pitchFamily="34" charset="0"/>
                <a:ea typeface="Arial" pitchFamily="34" charset="-122"/>
                <a:cs typeface="Arial" pitchFamily="34" charset="-120"/>
              </a:rPr>
              <a:t>A blood clot blocking the arteries of the lungs. It is common and can kill quickly if it is not treated.</a:t>
            </a:r>
            <a:endParaRPr lang="en-US" sz="1600" dirty="0"/>
          </a:p>
        </p:txBody>
      </p:sp>
      <p:sp>
        <p:nvSpPr>
          <p:cNvPr id="9" name="problem-1"/>
          <p:cNvSpPr/>
          <p:nvPr/>
        </p:nvSpPr>
        <p:spPr>
          <a:xfrm>
            <a:off x="4325112" y="1828800"/>
            <a:ext cx="3502152" cy="3931920"/>
          </a:xfrm>
          <a:prstGeom prst="roundRect">
            <a:avLst>
              <a:gd name="adj" fmla="val 4700"/>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0" name="Shape 7"/>
          <p:cNvSpPr/>
          <p:nvPr/>
        </p:nvSpPr>
        <p:spPr>
          <a:xfrm>
            <a:off x="4690872" y="2240280"/>
            <a:ext cx="822960" cy="822960"/>
          </a:xfrm>
          <a:prstGeom prst="ellipse">
            <a:avLst/>
          </a:prstGeom>
          <a:solidFill>
            <a:srgbClr val="FFF1DC"/>
          </a:solidFill>
          <a:ln w="12700">
            <a:solidFill>
              <a:srgbClr val="FFF1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871923" y="2421331"/>
            <a:ext cx="460858" cy="460858"/>
          </a:xfrm>
          <a:prstGeom prst="rect">
            <a:avLst/>
          </a:prstGeom>
        </p:spPr>
      </p:pic>
      <p:sp>
        <p:nvSpPr>
          <p:cNvPr id="12" name="Text 8"/>
          <p:cNvSpPr txBox="1"/>
          <p:nvPr/>
        </p:nvSpPr>
        <p:spPr>
          <a:xfrm>
            <a:off x="4690872" y="3337560"/>
            <a:ext cx="2770632" cy="457200"/>
          </a:xfrm>
          <a:prstGeom prst="rect">
            <a:avLst/>
          </a:prstGeom>
          <a:noFill/>
          <a:ln/>
        </p:spPr>
        <p:txBody>
          <a:bodyPr wrap="square" lIns="0" tIns="0" rIns="0" bIns="0" rtlCol="0" anchor="t"/>
          <a:lstStyle/>
          <a:p>
            <a:pPr marL="0" indent="0">
              <a:buNone/>
            </a:pPr>
            <a:r>
              <a:rPr lang="en-US" sz="2200" b="1" dirty="0">
                <a:solidFill>
                  <a:srgbClr val="1C1C1E"/>
                </a:solidFill>
                <a:latin typeface="Arial" pitchFamily="34" charset="0"/>
                <a:ea typeface="Arial" pitchFamily="34" charset="-122"/>
                <a:cs typeface="Arial" pitchFamily="34" charset="-120"/>
              </a:rPr>
              <a:t>Why it's hard</a:t>
            </a:r>
            <a:endParaRPr lang="en-US" sz="2200" dirty="0"/>
          </a:p>
        </p:txBody>
      </p:sp>
      <p:sp>
        <p:nvSpPr>
          <p:cNvPr id="13" name="Text 9"/>
          <p:cNvSpPr txBox="1"/>
          <p:nvPr/>
        </p:nvSpPr>
        <p:spPr>
          <a:xfrm>
            <a:off x="4690872" y="3886200"/>
            <a:ext cx="2770632" cy="1645920"/>
          </a:xfrm>
          <a:prstGeom prst="rect">
            <a:avLst/>
          </a:prstGeom>
          <a:noFill/>
          <a:ln/>
        </p:spPr>
        <p:txBody>
          <a:bodyPr wrap="square" lIns="0" tIns="0" rIns="0" bIns="0" rtlCol="0" anchor="t"/>
          <a:lstStyle/>
          <a:p>
            <a:pPr marL="0" indent="0">
              <a:lnSpc>
                <a:spcPct val="115000"/>
              </a:lnSpc>
              <a:buNone/>
            </a:pPr>
            <a:r>
              <a:rPr lang="en-US" sz="1600" dirty="0">
                <a:solidFill>
                  <a:srgbClr val="5E5E63"/>
                </a:solidFill>
                <a:latin typeface="Arial" pitchFamily="34" charset="0"/>
                <a:ea typeface="Arial" pitchFamily="34" charset="-122"/>
                <a:cs typeface="Arial" pitchFamily="34" charset="-120"/>
              </a:rPr>
              <a:t>Doctors find it by scrolling through hundreds of CT slices per patient. Small clots are easy to overlook, especially when radiologists are busy.</a:t>
            </a:r>
            <a:endParaRPr lang="en-US" sz="1600" dirty="0"/>
          </a:p>
        </p:txBody>
      </p:sp>
      <p:sp>
        <p:nvSpPr>
          <p:cNvPr id="14" name="problem-2"/>
          <p:cNvSpPr/>
          <p:nvPr/>
        </p:nvSpPr>
        <p:spPr>
          <a:xfrm>
            <a:off x="8101584" y="1828800"/>
            <a:ext cx="3502152" cy="3931920"/>
          </a:xfrm>
          <a:prstGeom prst="roundRect">
            <a:avLst>
              <a:gd name="adj" fmla="val 4700"/>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5" name="Shape 11"/>
          <p:cNvSpPr/>
          <p:nvPr/>
        </p:nvSpPr>
        <p:spPr>
          <a:xfrm>
            <a:off x="8467344" y="2240280"/>
            <a:ext cx="822960" cy="822960"/>
          </a:xfrm>
          <a:prstGeom prst="ellipse">
            <a:avLst/>
          </a:prstGeom>
          <a:solidFill>
            <a:srgbClr val="E5F0FF"/>
          </a:solidFill>
          <a:ln w="12700">
            <a:solidFill>
              <a:srgbClr val="E5F0F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648395" y="2421331"/>
            <a:ext cx="460858" cy="460858"/>
          </a:xfrm>
          <a:prstGeom prst="rect">
            <a:avLst/>
          </a:prstGeom>
        </p:spPr>
      </p:pic>
      <p:sp>
        <p:nvSpPr>
          <p:cNvPr id="17" name="Text 12"/>
          <p:cNvSpPr txBox="1"/>
          <p:nvPr/>
        </p:nvSpPr>
        <p:spPr>
          <a:xfrm>
            <a:off x="8467344" y="3337560"/>
            <a:ext cx="2770632" cy="457200"/>
          </a:xfrm>
          <a:prstGeom prst="rect">
            <a:avLst/>
          </a:prstGeom>
          <a:noFill/>
          <a:ln/>
        </p:spPr>
        <p:txBody>
          <a:bodyPr wrap="square" lIns="0" tIns="0" rIns="0" bIns="0" rtlCol="0" anchor="t"/>
          <a:lstStyle/>
          <a:p>
            <a:pPr marL="0" indent="0">
              <a:buNone/>
            </a:pPr>
            <a:r>
              <a:rPr lang="en-US" sz="2200" b="1" dirty="0">
                <a:solidFill>
                  <a:srgbClr val="1C1C1E"/>
                </a:solidFill>
                <a:latin typeface="Arial" pitchFamily="34" charset="0"/>
                <a:ea typeface="Arial" pitchFamily="34" charset="-122"/>
                <a:cs typeface="Arial" pitchFamily="34" charset="-120"/>
              </a:rPr>
              <a:t>Our goal</a:t>
            </a:r>
            <a:endParaRPr lang="en-US" sz="2200" dirty="0"/>
          </a:p>
        </p:txBody>
      </p:sp>
      <p:sp>
        <p:nvSpPr>
          <p:cNvPr id="18" name="Text 13"/>
          <p:cNvSpPr txBox="1"/>
          <p:nvPr/>
        </p:nvSpPr>
        <p:spPr>
          <a:xfrm>
            <a:off x="8467344" y="3886200"/>
            <a:ext cx="2770632" cy="1645920"/>
          </a:xfrm>
          <a:prstGeom prst="rect">
            <a:avLst/>
          </a:prstGeom>
          <a:noFill/>
          <a:ln/>
        </p:spPr>
        <p:txBody>
          <a:bodyPr wrap="square" lIns="0" tIns="0" rIns="0" bIns="0" rtlCol="0" anchor="t"/>
          <a:lstStyle/>
          <a:p>
            <a:pPr marL="0" indent="0">
              <a:lnSpc>
                <a:spcPct val="115000"/>
              </a:lnSpc>
              <a:buNone/>
            </a:pPr>
            <a:r>
              <a:rPr lang="en-US" sz="1600" dirty="0">
                <a:solidFill>
                  <a:srgbClr val="5E5E63"/>
                </a:solidFill>
                <a:latin typeface="Arial" pitchFamily="34" charset="0"/>
                <a:ea typeface="Arial" pitchFamily="34" charset="-122"/>
                <a:cs typeface="Arial" pitchFamily="34" charset="-120"/>
              </a:rPr>
              <a:t>A model that flags which patients have PE, tuned so that almost no sick patient is missed. Flagged scans get a careful second look.</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300" b="1" kern="0" spc="150" dirty="0">
                <a:solidFill>
                  <a:srgbClr val="0058B8"/>
                </a:solidFill>
                <a:latin typeface="Arial" pitchFamily="34" charset="0"/>
                <a:ea typeface="Arial" pitchFamily="34" charset="-122"/>
                <a:cs typeface="Arial" pitchFamily="34" charset="-120"/>
              </a:rPr>
              <a:t>02 · THE DATA</a:t>
            </a:r>
            <a:endParaRPr lang="en-US" sz="1300" dirty="0"/>
          </a:p>
        </p:txBody>
      </p:sp>
      <p:sp>
        <p:nvSpPr>
          <p:cNvPr id="3" name="Text 0"/>
          <p:cNvSpPr>
            <a:spLocks noGrp="1"/>
          </p:cNvSpPr>
          <p:nvPr>
            <p:ph type="title" idx="100"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600" b="1" dirty="0">
                <a:solidFill>
                  <a:srgbClr val="1C1C1E"/>
                </a:solidFill>
                <a:latin typeface="Arial" pitchFamily="34" charset="0"/>
                <a:ea typeface="Arial" pitchFamily="34" charset="-122"/>
                <a:cs typeface="Arial" pitchFamily="34" charset="-120"/>
              </a:rPr>
              <a:t>RSPECT: expert-labeled chest CT scans</a:t>
            </a:r>
            <a:endParaRPr lang="en-US" sz="3600" dirty="0"/>
          </a:p>
        </p:txBody>
      </p:sp>
      <p:sp>
        <p:nvSpPr>
          <p:cNvPr id="4" name="stat-0"/>
          <p:cNvSpPr/>
          <p:nvPr/>
        </p:nvSpPr>
        <p:spPr>
          <a:xfrm>
            <a:off x="548640" y="1828800"/>
            <a:ext cx="2606040" cy="237744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5" name="Text 3"/>
          <p:cNvSpPr txBox="1"/>
          <p:nvPr/>
        </p:nvSpPr>
        <p:spPr>
          <a:xfrm>
            <a:off x="868680" y="2194560"/>
            <a:ext cx="1965960" cy="914400"/>
          </a:xfrm>
          <a:prstGeom prst="rect">
            <a:avLst/>
          </a:prstGeom>
          <a:noFill/>
          <a:ln/>
        </p:spPr>
        <p:txBody>
          <a:bodyPr wrap="square" lIns="0" tIns="0" rIns="0" bIns="0" rtlCol="0" anchor="t"/>
          <a:lstStyle/>
          <a:p>
            <a:pPr marL="0" indent="0">
              <a:buNone/>
            </a:pPr>
            <a:r>
              <a:rPr lang="en-US" sz="5400" b="1" dirty="0">
                <a:solidFill>
                  <a:srgbClr val="1C1C1E"/>
                </a:solidFill>
                <a:latin typeface="Arial" pitchFamily="34" charset="0"/>
                <a:ea typeface="Arial" pitchFamily="34" charset="-122"/>
                <a:cs typeface="Arial" pitchFamily="34" charset="-120"/>
              </a:rPr>
              <a:t>7,279</a:t>
            </a:r>
            <a:endParaRPr lang="en-US" sz="5400" dirty="0"/>
          </a:p>
        </p:txBody>
      </p:sp>
      <p:sp>
        <p:nvSpPr>
          <p:cNvPr id="6" name="Text 4"/>
          <p:cNvSpPr txBox="1"/>
          <p:nvPr/>
        </p:nvSpPr>
        <p:spPr>
          <a:xfrm>
            <a:off x="868680" y="3200400"/>
            <a:ext cx="1965960" cy="82296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CT studies in the full Kaggle dataset</a:t>
            </a:r>
            <a:endParaRPr lang="en-US" sz="1500" dirty="0"/>
          </a:p>
        </p:txBody>
      </p:sp>
      <p:sp>
        <p:nvSpPr>
          <p:cNvPr id="7" name="stat-1"/>
          <p:cNvSpPr/>
          <p:nvPr/>
        </p:nvSpPr>
        <p:spPr>
          <a:xfrm>
            <a:off x="3383280" y="1828800"/>
            <a:ext cx="2606040" cy="237744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8" name="Text 6"/>
          <p:cNvSpPr txBox="1"/>
          <p:nvPr/>
        </p:nvSpPr>
        <p:spPr>
          <a:xfrm>
            <a:off x="3703320" y="2194560"/>
            <a:ext cx="1965960" cy="914400"/>
          </a:xfrm>
          <a:prstGeom prst="rect">
            <a:avLst/>
          </a:prstGeom>
          <a:noFill/>
          <a:ln/>
        </p:spPr>
        <p:txBody>
          <a:bodyPr wrap="square" lIns="0" tIns="0" rIns="0" bIns="0" rtlCol="0" anchor="t"/>
          <a:lstStyle/>
          <a:p>
            <a:pPr marL="0" indent="0">
              <a:buNone/>
            </a:pPr>
            <a:r>
              <a:rPr lang="en-US" sz="5400" b="1" dirty="0">
                <a:solidFill>
                  <a:srgbClr val="0058B8"/>
                </a:solidFill>
                <a:latin typeface="Arial" pitchFamily="34" charset="0"/>
                <a:ea typeface="Arial" pitchFamily="34" charset="-122"/>
                <a:cs typeface="Arial" pitchFamily="34" charset="-120"/>
              </a:rPr>
              <a:t>1,500</a:t>
            </a:r>
            <a:endParaRPr lang="en-US" sz="5400" dirty="0"/>
          </a:p>
        </p:txBody>
      </p:sp>
      <p:sp>
        <p:nvSpPr>
          <p:cNvPr id="9" name="Text 7"/>
          <p:cNvSpPr txBox="1"/>
          <p:nvPr/>
        </p:nvSpPr>
        <p:spPr>
          <a:xfrm>
            <a:off x="3703320" y="3200400"/>
            <a:ext cx="1965960" cy="82296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patients in our subset</a:t>
            </a:r>
            <a:endParaRPr lang="en-US" sz="1500" dirty="0"/>
          </a:p>
        </p:txBody>
      </p:sp>
      <p:sp>
        <p:nvSpPr>
          <p:cNvPr id="10" name="stat-2"/>
          <p:cNvSpPr/>
          <p:nvPr/>
        </p:nvSpPr>
        <p:spPr>
          <a:xfrm>
            <a:off x="6217920" y="1828800"/>
            <a:ext cx="2606040" cy="237744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1" name="Text 9"/>
          <p:cNvSpPr txBox="1"/>
          <p:nvPr/>
        </p:nvSpPr>
        <p:spPr>
          <a:xfrm>
            <a:off x="6537960" y="2194560"/>
            <a:ext cx="1965960" cy="914400"/>
          </a:xfrm>
          <a:prstGeom prst="rect">
            <a:avLst/>
          </a:prstGeom>
          <a:noFill/>
          <a:ln/>
        </p:spPr>
        <p:txBody>
          <a:bodyPr wrap="square" lIns="0" tIns="0" rIns="0" bIns="0" rtlCol="0" anchor="t"/>
          <a:lstStyle/>
          <a:p>
            <a:pPr marL="0" indent="0">
              <a:buNone/>
            </a:pPr>
            <a:r>
              <a:rPr lang="en-US" sz="5400" b="1" dirty="0">
                <a:solidFill>
                  <a:srgbClr val="C4271E"/>
                </a:solidFill>
                <a:latin typeface="Arial" pitchFamily="34" charset="0"/>
                <a:ea typeface="Arial" pitchFamily="34" charset="-122"/>
                <a:cs typeface="Arial" pitchFamily="34" charset="-120"/>
              </a:rPr>
              <a:t>32.5%</a:t>
            </a:r>
            <a:endParaRPr lang="en-US" sz="5400" dirty="0"/>
          </a:p>
        </p:txBody>
      </p:sp>
      <p:sp>
        <p:nvSpPr>
          <p:cNvPr id="12" name="Text 10"/>
          <p:cNvSpPr txBox="1"/>
          <p:nvPr/>
        </p:nvSpPr>
        <p:spPr>
          <a:xfrm>
            <a:off x="6537960" y="3200400"/>
            <a:ext cx="1965960" cy="82296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of patients are sick: we kept the real ratio</a:t>
            </a:r>
            <a:endParaRPr lang="en-US" sz="1500" dirty="0"/>
          </a:p>
        </p:txBody>
      </p:sp>
      <p:sp>
        <p:nvSpPr>
          <p:cNvPr id="13" name="stat-3"/>
          <p:cNvSpPr/>
          <p:nvPr/>
        </p:nvSpPr>
        <p:spPr>
          <a:xfrm>
            <a:off x="9052560" y="1828800"/>
            <a:ext cx="2606040" cy="237744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4" name="Text 12"/>
          <p:cNvSpPr txBox="1"/>
          <p:nvPr/>
        </p:nvSpPr>
        <p:spPr>
          <a:xfrm>
            <a:off x="9372600" y="2194560"/>
            <a:ext cx="1965960" cy="914400"/>
          </a:xfrm>
          <a:prstGeom prst="rect">
            <a:avLst/>
          </a:prstGeom>
          <a:noFill/>
          <a:ln/>
        </p:spPr>
        <p:txBody>
          <a:bodyPr wrap="square" lIns="0" tIns="0" rIns="0" bIns="0" rtlCol="0" anchor="t"/>
          <a:lstStyle/>
          <a:p>
            <a:pPr marL="0" indent="0">
              <a:buNone/>
            </a:pPr>
            <a:r>
              <a:rPr lang="en-US" sz="5400" b="1" dirty="0">
                <a:solidFill>
                  <a:srgbClr val="1C1C1E"/>
                </a:solidFill>
                <a:latin typeface="Arial" pitchFamily="34" charset="0"/>
                <a:ea typeface="Arial" pitchFamily="34" charset="-122"/>
                <a:cs typeface="Arial" pitchFamily="34" charset="-120"/>
              </a:rPr>
              <a:t>~6%</a:t>
            </a:r>
            <a:endParaRPr lang="en-US" sz="5400" dirty="0"/>
          </a:p>
        </p:txBody>
      </p:sp>
      <p:sp>
        <p:nvSpPr>
          <p:cNvPr id="15" name="Text 13"/>
          <p:cNvSpPr txBox="1"/>
          <p:nvPr/>
        </p:nvSpPr>
        <p:spPr>
          <a:xfrm>
            <a:off x="9372600" y="3200400"/>
            <a:ext cx="1965960" cy="82296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of slices actually show a clot</a:t>
            </a:r>
            <a:endParaRPr lang="en-US" sz="1500" dirty="0"/>
          </a:p>
        </p:txBody>
      </p:sp>
      <p:sp>
        <p:nvSpPr>
          <p:cNvPr id="16" name="data-note"/>
          <p:cNvSpPr/>
          <p:nvPr/>
        </p:nvSpPr>
        <p:spPr>
          <a:xfrm>
            <a:off x="548640" y="4572000"/>
            <a:ext cx="11064240" cy="1371600"/>
          </a:xfrm>
          <a:prstGeom prst="roundRect">
            <a:avLst>
              <a:gd name="adj" fmla="val 12000"/>
            </a:avLst>
          </a:prstGeom>
          <a:solidFill>
            <a:srgbClr val="E5F0FF"/>
          </a:solidFill>
          <a:ln w="12700">
            <a:solidFill>
              <a:srgbClr val="E5F0FF"/>
            </a:solidFill>
            <a:prstDash val="solid"/>
          </a:ln>
        </p:spPr>
        <p:txBody>
          <a:bodyPr/>
          <a:lstStyle/>
          <a:p>
            <a:endParaRPr lang="en-US"/>
          </a:p>
        </p:txBody>
      </p:sp>
      <p:sp>
        <p:nvSpPr>
          <p:cNvPr id="17" name="Shape 15"/>
          <p:cNvSpPr/>
          <p:nvPr/>
        </p:nvSpPr>
        <p:spPr>
          <a:xfrm>
            <a:off x="868680" y="4846320"/>
            <a:ext cx="822960" cy="822960"/>
          </a:xfrm>
          <a:prstGeom prst="ellipse">
            <a:avLst/>
          </a:prstGeom>
          <a:solidFill>
            <a:srgbClr val="FFFFFF"/>
          </a:solidFill>
          <a:ln w="12700">
            <a:solidFill>
              <a:srgbClr val="FFFFFF"/>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1049731" y="5027371"/>
            <a:ext cx="460858" cy="460858"/>
          </a:xfrm>
          <a:prstGeom prst="rect">
            <a:avLst/>
          </a:prstGeom>
        </p:spPr>
      </p:pic>
      <p:sp>
        <p:nvSpPr>
          <p:cNvPr id="19" name="Text 16"/>
          <p:cNvSpPr txBox="1"/>
          <p:nvPr/>
        </p:nvSpPr>
        <p:spPr>
          <a:xfrm>
            <a:off x="1965960" y="4800600"/>
            <a:ext cx="9326880" cy="914400"/>
          </a:xfrm>
          <a:prstGeom prst="rect">
            <a:avLst/>
          </a:prstGeom>
          <a:noFill/>
          <a:ln/>
        </p:spPr>
        <p:txBody>
          <a:bodyPr wrap="square" lIns="0" tIns="0" rIns="0" bIns="0" rtlCol="0" anchor="ctr"/>
          <a:lstStyle/>
          <a:p>
            <a:pPr marL="0" indent="0">
              <a:buNone/>
            </a:pPr>
            <a:r>
              <a:rPr lang="en-US" sz="1600" dirty="0">
                <a:solidFill>
                  <a:srgbClr val="1C1C1E"/>
                </a:solidFill>
                <a:latin typeface="Arial" pitchFamily="34" charset="0"/>
                <a:ea typeface="Arial" pitchFamily="34" charset="-122"/>
                <a:cs typeface="Arial" pitchFamily="34" charset="-120"/>
              </a:rPr>
              <a:t>From the 2020 RSNA-STR Kaggle competition. Radiologists labeled every slice as clot / no clot, and every patient as PE / no PE. Patient-level imbalance is mild (about 2 : 1), but slice-level imbalance is strong (about 16 : 1).</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300" b="1" kern="0" spc="150" dirty="0">
                <a:solidFill>
                  <a:srgbClr val="0058B8"/>
                </a:solidFill>
                <a:latin typeface="Arial" pitchFamily="34" charset="0"/>
                <a:ea typeface="Arial" pitchFamily="34" charset="-122"/>
                <a:cs typeface="Arial" pitchFamily="34" charset="-120"/>
              </a:rPr>
              <a:t>03 · PREPARATION</a:t>
            </a:r>
            <a:endParaRPr lang="en-US" sz="1300" dirty="0"/>
          </a:p>
        </p:txBody>
      </p:sp>
      <p:sp>
        <p:nvSpPr>
          <p:cNvPr id="3" name="Text 0"/>
          <p:cNvSpPr>
            <a:spLocks noGrp="1"/>
          </p:cNvSpPr>
          <p:nvPr>
            <p:ph type="title" idx="100"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600" b="1" dirty="0">
                <a:solidFill>
                  <a:srgbClr val="1C1C1E"/>
                </a:solidFill>
                <a:latin typeface="Arial" pitchFamily="34" charset="0"/>
                <a:ea typeface="Arial" pitchFamily="34" charset="-122"/>
                <a:cs typeface="Arial" pitchFamily="34" charset="-120"/>
              </a:rPr>
              <a:t>Turning each scan into model input</a:t>
            </a:r>
            <a:endParaRPr lang="en-US" sz="3600" dirty="0"/>
          </a:p>
        </p:txBody>
      </p:sp>
      <p:sp>
        <p:nvSpPr>
          <p:cNvPr id="4" name="step-0"/>
          <p:cNvSpPr/>
          <p:nvPr/>
        </p:nvSpPr>
        <p:spPr>
          <a:xfrm>
            <a:off x="548640" y="1920240"/>
            <a:ext cx="2377440" cy="356616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5" name="Text 3"/>
          <p:cNvSpPr txBox="1"/>
          <p:nvPr/>
        </p:nvSpPr>
        <p:spPr>
          <a:xfrm>
            <a:off x="868680" y="2240280"/>
            <a:ext cx="548640" cy="457200"/>
          </a:xfrm>
          <a:prstGeom prst="rect">
            <a:avLst/>
          </a:prstGeom>
          <a:noFill/>
          <a:ln/>
        </p:spPr>
        <p:txBody>
          <a:bodyPr wrap="square" lIns="0" tIns="0" rIns="0" bIns="0" rtlCol="0" anchor="t"/>
          <a:lstStyle/>
          <a:p>
            <a:pPr marL="0" indent="0">
              <a:buNone/>
            </a:pPr>
            <a:r>
              <a:rPr lang="en-US" sz="1800" b="1" dirty="0">
                <a:solidFill>
                  <a:srgbClr val="0058B8"/>
                </a:solidFill>
                <a:latin typeface="Arial" pitchFamily="34" charset="0"/>
                <a:ea typeface="Arial" pitchFamily="34" charset="-122"/>
                <a:cs typeface="Arial" pitchFamily="34" charset="-120"/>
              </a:rPr>
              <a:t>1</a:t>
            </a:r>
            <a:endParaRPr lang="en-US" sz="1800" dirty="0"/>
          </a:p>
        </p:txBody>
      </p:sp>
      <p:sp>
        <p:nvSpPr>
          <p:cNvPr id="6" name="Shape 4"/>
          <p:cNvSpPr/>
          <p:nvPr/>
        </p:nvSpPr>
        <p:spPr>
          <a:xfrm>
            <a:off x="868680" y="2788920"/>
            <a:ext cx="777240" cy="777240"/>
          </a:xfrm>
          <a:prstGeom prst="ellipse">
            <a:avLst/>
          </a:prstGeom>
          <a:solidFill>
            <a:srgbClr val="E5F0FF"/>
          </a:solidFill>
          <a:ln w="12700">
            <a:solidFill>
              <a:srgbClr val="E5F0F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39673" y="2959913"/>
            <a:ext cx="435254" cy="435254"/>
          </a:xfrm>
          <a:prstGeom prst="rect">
            <a:avLst/>
          </a:prstGeom>
        </p:spPr>
      </p:pic>
      <p:sp>
        <p:nvSpPr>
          <p:cNvPr id="8" name="Text 5"/>
          <p:cNvSpPr txBox="1"/>
          <p:nvPr/>
        </p:nvSpPr>
        <p:spPr>
          <a:xfrm>
            <a:off x="868680" y="3749040"/>
            <a:ext cx="1828800" cy="411480"/>
          </a:xfrm>
          <a:prstGeom prst="rect">
            <a:avLst/>
          </a:prstGeom>
          <a:noFill/>
          <a:ln/>
        </p:spPr>
        <p:txBody>
          <a:bodyPr wrap="square" lIns="0" tIns="0" rIns="0" bIns="0" rtlCol="0" anchor="t"/>
          <a:lstStyle/>
          <a:p>
            <a:pPr marL="0" indent="0">
              <a:buNone/>
            </a:pPr>
            <a:r>
              <a:rPr lang="en-US" sz="2000" b="1" dirty="0">
                <a:solidFill>
                  <a:srgbClr val="1C1C1E"/>
                </a:solidFill>
                <a:latin typeface="Arial" pitchFamily="34" charset="0"/>
                <a:ea typeface="Arial" pitchFamily="34" charset="-122"/>
                <a:cs typeface="Arial" pitchFamily="34" charset="-120"/>
              </a:rPr>
              <a:t>Read DICOM</a:t>
            </a:r>
            <a:endParaRPr lang="en-US" sz="2000" dirty="0"/>
          </a:p>
        </p:txBody>
      </p:sp>
      <p:sp>
        <p:nvSpPr>
          <p:cNvPr id="9" name="Text 6"/>
          <p:cNvSpPr txBox="1"/>
          <p:nvPr/>
        </p:nvSpPr>
        <p:spPr>
          <a:xfrm>
            <a:off x="868680" y="4206240"/>
            <a:ext cx="1828800" cy="118872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Load the slices and convert pixels to Hounsfield units (HU), the CT density scale.</a:t>
            </a:r>
            <a:endParaRPr lang="en-US" sz="1500" dirty="0"/>
          </a:p>
        </p:txBody>
      </p:sp>
      <p:pic>
        <p:nvPicPr>
          <p:cNvPr id="10" name="Image 1" descr="preencoded.png"/>
          <p:cNvPicPr>
            <a:picLocks noChangeAspect="1"/>
          </p:cNvPicPr>
          <p:nvPr/>
        </p:nvPicPr>
        <p:blipFill>
          <a:blip r:embed="rId4"/>
          <a:stretch>
            <a:fillRect/>
          </a:stretch>
        </p:blipFill>
        <p:spPr>
          <a:xfrm>
            <a:off x="3017520" y="3529584"/>
            <a:ext cx="347472" cy="347472"/>
          </a:xfrm>
          <a:prstGeom prst="rect">
            <a:avLst/>
          </a:prstGeom>
        </p:spPr>
      </p:pic>
      <p:sp>
        <p:nvSpPr>
          <p:cNvPr id="11" name="step-1"/>
          <p:cNvSpPr/>
          <p:nvPr/>
        </p:nvSpPr>
        <p:spPr>
          <a:xfrm>
            <a:off x="3447288" y="1920240"/>
            <a:ext cx="2377440" cy="356616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2" name="Text 8"/>
          <p:cNvSpPr txBox="1"/>
          <p:nvPr/>
        </p:nvSpPr>
        <p:spPr>
          <a:xfrm>
            <a:off x="3767328" y="2240280"/>
            <a:ext cx="548640" cy="457200"/>
          </a:xfrm>
          <a:prstGeom prst="rect">
            <a:avLst/>
          </a:prstGeom>
          <a:noFill/>
          <a:ln/>
        </p:spPr>
        <p:txBody>
          <a:bodyPr wrap="square" lIns="0" tIns="0" rIns="0" bIns="0" rtlCol="0" anchor="t"/>
          <a:lstStyle/>
          <a:p>
            <a:pPr marL="0" indent="0">
              <a:buNone/>
            </a:pPr>
            <a:r>
              <a:rPr lang="en-US" sz="1800" b="1" dirty="0">
                <a:solidFill>
                  <a:srgbClr val="0058B8"/>
                </a:solidFill>
                <a:latin typeface="Arial" pitchFamily="34" charset="0"/>
                <a:ea typeface="Arial" pitchFamily="34" charset="-122"/>
                <a:cs typeface="Arial" pitchFamily="34" charset="-120"/>
              </a:rPr>
              <a:t>2</a:t>
            </a:r>
            <a:endParaRPr lang="en-US" sz="1800" dirty="0"/>
          </a:p>
        </p:txBody>
      </p:sp>
      <p:sp>
        <p:nvSpPr>
          <p:cNvPr id="13" name="Shape 9"/>
          <p:cNvSpPr/>
          <p:nvPr/>
        </p:nvSpPr>
        <p:spPr>
          <a:xfrm>
            <a:off x="3767328" y="2788920"/>
            <a:ext cx="777240" cy="777240"/>
          </a:xfrm>
          <a:prstGeom prst="ellipse">
            <a:avLst/>
          </a:prstGeom>
          <a:solidFill>
            <a:srgbClr val="E5F0FF"/>
          </a:solidFill>
          <a:ln w="12700">
            <a:solidFill>
              <a:srgbClr val="E5F0FF"/>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3938321" y="2959913"/>
            <a:ext cx="435254" cy="435254"/>
          </a:xfrm>
          <a:prstGeom prst="rect">
            <a:avLst/>
          </a:prstGeom>
        </p:spPr>
      </p:pic>
      <p:sp>
        <p:nvSpPr>
          <p:cNvPr id="15" name="Text 10"/>
          <p:cNvSpPr txBox="1"/>
          <p:nvPr/>
        </p:nvSpPr>
        <p:spPr>
          <a:xfrm>
            <a:off x="3767328" y="3749040"/>
            <a:ext cx="1828800" cy="411480"/>
          </a:xfrm>
          <a:prstGeom prst="rect">
            <a:avLst/>
          </a:prstGeom>
          <a:noFill/>
          <a:ln/>
        </p:spPr>
        <p:txBody>
          <a:bodyPr wrap="square" lIns="0" tIns="0" rIns="0" bIns="0" rtlCol="0" anchor="t"/>
          <a:lstStyle/>
          <a:p>
            <a:pPr marL="0" indent="0">
              <a:buNone/>
            </a:pPr>
            <a:r>
              <a:rPr lang="en-US" sz="2000" b="1" dirty="0">
                <a:solidFill>
                  <a:srgbClr val="1C1C1E"/>
                </a:solidFill>
                <a:latin typeface="Arial" pitchFamily="34" charset="0"/>
                <a:ea typeface="Arial" pitchFamily="34" charset="-122"/>
                <a:cs typeface="Arial" pitchFamily="34" charset="-120"/>
              </a:rPr>
              <a:t>Keep 64 slices</a:t>
            </a:r>
            <a:endParaRPr lang="en-US" sz="2000" dirty="0"/>
          </a:p>
        </p:txBody>
      </p:sp>
      <p:sp>
        <p:nvSpPr>
          <p:cNvPr id="16" name="Text 11"/>
          <p:cNvSpPr txBox="1"/>
          <p:nvPr/>
        </p:nvSpPr>
        <p:spPr>
          <a:xfrm>
            <a:off x="3767328" y="4206240"/>
            <a:ext cx="1828800" cy="118872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Pick 64 evenly spaced slices along the scan, so every patient has the same size input.</a:t>
            </a:r>
            <a:endParaRPr lang="en-US" sz="1500" dirty="0"/>
          </a:p>
        </p:txBody>
      </p:sp>
      <p:pic>
        <p:nvPicPr>
          <p:cNvPr id="17" name="Image 3" descr="preencoded.png"/>
          <p:cNvPicPr>
            <a:picLocks noChangeAspect="1"/>
          </p:cNvPicPr>
          <p:nvPr/>
        </p:nvPicPr>
        <p:blipFill>
          <a:blip r:embed="rId4"/>
          <a:stretch>
            <a:fillRect/>
          </a:stretch>
        </p:blipFill>
        <p:spPr>
          <a:xfrm>
            <a:off x="5916168" y="3529584"/>
            <a:ext cx="347472" cy="347472"/>
          </a:xfrm>
          <a:prstGeom prst="rect">
            <a:avLst/>
          </a:prstGeom>
        </p:spPr>
      </p:pic>
      <p:sp>
        <p:nvSpPr>
          <p:cNvPr id="18" name="step-2"/>
          <p:cNvSpPr/>
          <p:nvPr/>
        </p:nvSpPr>
        <p:spPr>
          <a:xfrm>
            <a:off x="6345936" y="1925495"/>
            <a:ext cx="2377440" cy="356616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9" name="Text 13"/>
          <p:cNvSpPr txBox="1"/>
          <p:nvPr/>
        </p:nvSpPr>
        <p:spPr>
          <a:xfrm>
            <a:off x="6665976" y="2240280"/>
            <a:ext cx="548640" cy="457200"/>
          </a:xfrm>
          <a:prstGeom prst="rect">
            <a:avLst/>
          </a:prstGeom>
          <a:noFill/>
          <a:ln/>
        </p:spPr>
        <p:txBody>
          <a:bodyPr wrap="square" lIns="0" tIns="0" rIns="0" bIns="0" rtlCol="0" anchor="t"/>
          <a:lstStyle/>
          <a:p>
            <a:pPr marL="0" indent="0">
              <a:buNone/>
            </a:pPr>
            <a:r>
              <a:rPr lang="en-US" sz="1800" b="1" dirty="0">
                <a:solidFill>
                  <a:srgbClr val="0058B8"/>
                </a:solidFill>
                <a:latin typeface="Arial" pitchFamily="34" charset="0"/>
                <a:ea typeface="Arial" pitchFamily="34" charset="-122"/>
                <a:cs typeface="Arial" pitchFamily="34" charset="-120"/>
              </a:rPr>
              <a:t>3</a:t>
            </a:r>
            <a:endParaRPr lang="en-US" sz="1800" dirty="0"/>
          </a:p>
        </p:txBody>
      </p:sp>
      <p:sp>
        <p:nvSpPr>
          <p:cNvPr id="20" name="Shape 14"/>
          <p:cNvSpPr/>
          <p:nvPr/>
        </p:nvSpPr>
        <p:spPr>
          <a:xfrm>
            <a:off x="6665976" y="2788920"/>
            <a:ext cx="777240" cy="777240"/>
          </a:xfrm>
          <a:prstGeom prst="ellipse">
            <a:avLst/>
          </a:prstGeom>
          <a:solidFill>
            <a:srgbClr val="E5F0FF"/>
          </a:solidFill>
          <a:ln w="12700">
            <a:solidFill>
              <a:srgbClr val="E5F0FF"/>
            </a:solidFill>
            <a:prstDash val="solid"/>
          </a:ln>
        </p:spPr>
        <p:txBody>
          <a:bodyPr/>
          <a:lstStyle/>
          <a:p>
            <a:endParaRPr lang="en-US"/>
          </a:p>
        </p:txBody>
      </p:sp>
      <p:pic>
        <p:nvPicPr>
          <p:cNvPr id="21" name="Image 4" descr="preencoded.png"/>
          <p:cNvPicPr>
            <a:picLocks noChangeAspect="1"/>
          </p:cNvPicPr>
          <p:nvPr/>
        </p:nvPicPr>
        <p:blipFill>
          <a:blip r:embed="rId6"/>
          <a:stretch>
            <a:fillRect/>
          </a:stretch>
        </p:blipFill>
        <p:spPr>
          <a:xfrm>
            <a:off x="6836969" y="2959913"/>
            <a:ext cx="435254" cy="435254"/>
          </a:xfrm>
          <a:prstGeom prst="rect">
            <a:avLst/>
          </a:prstGeom>
        </p:spPr>
      </p:pic>
      <p:sp>
        <p:nvSpPr>
          <p:cNvPr id="22" name="Text 15"/>
          <p:cNvSpPr txBox="1"/>
          <p:nvPr/>
        </p:nvSpPr>
        <p:spPr>
          <a:xfrm>
            <a:off x="6665976" y="3749040"/>
            <a:ext cx="1828800" cy="411480"/>
          </a:xfrm>
          <a:prstGeom prst="rect">
            <a:avLst/>
          </a:prstGeom>
          <a:noFill/>
          <a:ln/>
        </p:spPr>
        <p:txBody>
          <a:bodyPr wrap="square" lIns="0" tIns="0" rIns="0" bIns="0" rtlCol="0" anchor="t"/>
          <a:lstStyle/>
          <a:p>
            <a:pPr marL="0" indent="0">
              <a:buNone/>
            </a:pPr>
            <a:r>
              <a:rPr lang="en-US" sz="2000" b="1" dirty="0">
                <a:solidFill>
                  <a:srgbClr val="1C1C1E"/>
                </a:solidFill>
                <a:latin typeface="Arial" pitchFamily="34" charset="0"/>
                <a:ea typeface="Arial" pitchFamily="34" charset="-122"/>
                <a:cs typeface="Arial" pitchFamily="34" charset="-120"/>
              </a:rPr>
              <a:t>Window</a:t>
            </a:r>
            <a:endParaRPr lang="en-US" sz="2000" dirty="0"/>
          </a:p>
        </p:txBody>
      </p:sp>
      <p:sp>
        <p:nvSpPr>
          <p:cNvPr id="23" name="Text 16"/>
          <p:cNvSpPr txBox="1"/>
          <p:nvPr/>
        </p:nvSpPr>
        <p:spPr>
          <a:xfrm>
            <a:off x="6665976" y="4206240"/>
            <a:ext cx="1828800" cy="118872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Clip the HU range so blood vessels and clots stand out, and scale to 0–1.</a:t>
            </a:r>
            <a:endParaRPr lang="en-US" sz="1500" dirty="0"/>
          </a:p>
        </p:txBody>
      </p:sp>
      <p:pic>
        <p:nvPicPr>
          <p:cNvPr id="24" name="Image 5" descr="preencoded.png"/>
          <p:cNvPicPr>
            <a:picLocks noChangeAspect="1"/>
          </p:cNvPicPr>
          <p:nvPr/>
        </p:nvPicPr>
        <p:blipFill>
          <a:blip r:embed="rId4"/>
          <a:stretch>
            <a:fillRect/>
          </a:stretch>
        </p:blipFill>
        <p:spPr>
          <a:xfrm>
            <a:off x="8814816" y="3529584"/>
            <a:ext cx="347472" cy="347472"/>
          </a:xfrm>
          <a:prstGeom prst="rect">
            <a:avLst/>
          </a:prstGeom>
        </p:spPr>
      </p:pic>
      <p:sp>
        <p:nvSpPr>
          <p:cNvPr id="25" name="step-3"/>
          <p:cNvSpPr/>
          <p:nvPr/>
        </p:nvSpPr>
        <p:spPr>
          <a:xfrm>
            <a:off x="9244584" y="1920240"/>
            <a:ext cx="2377440" cy="356616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26" name="Text 18"/>
          <p:cNvSpPr txBox="1"/>
          <p:nvPr/>
        </p:nvSpPr>
        <p:spPr>
          <a:xfrm>
            <a:off x="9564624" y="2240280"/>
            <a:ext cx="548640" cy="457200"/>
          </a:xfrm>
          <a:prstGeom prst="rect">
            <a:avLst/>
          </a:prstGeom>
          <a:noFill/>
          <a:ln/>
        </p:spPr>
        <p:txBody>
          <a:bodyPr wrap="square" lIns="0" tIns="0" rIns="0" bIns="0" rtlCol="0" anchor="t"/>
          <a:lstStyle/>
          <a:p>
            <a:pPr marL="0" indent="0">
              <a:buNone/>
            </a:pPr>
            <a:r>
              <a:rPr lang="en-US" sz="1800" b="1" dirty="0">
                <a:solidFill>
                  <a:srgbClr val="0058B8"/>
                </a:solidFill>
                <a:latin typeface="Arial" pitchFamily="34" charset="0"/>
                <a:ea typeface="Arial" pitchFamily="34" charset="-122"/>
                <a:cs typeface="Arial" pitchFamily="34" charset="-120"/>
              </a:rPr>
              <a:t>4</a:t>
            </a:r>
            <a:endParaRPr lang="en-US" sz="1800" dirty="0"/>
          </a:p>
        </p:txBody>
      </p:sp>
      <p:sp>
        <p:nvSpPr>
          <p:cNvPr id="27" name="Shape 19"/>
          <p:cNvSpPr/>
          <p:nvPr/>
        </p:nvSpPr>
        <p:spPr>
          <a:xfrm>
            <a:off x="9564624" y="2788920"/>
            <a:ext cx="777240" cy="777240"/>
          </a:xfrm>
          <a:prstGeom prst="ellipse">
            <a:avLst/>
          </a:prstGeom>
          <a:solidFill>
            <a:srgbClr val="E5F0FF"/>
          </a:solidFill>
          <a:ln w="12700">
            <a:solidFill>
              <a:srgbClr val="E5F0FF"/>
            </a:solidFill>
            <a:prstDash val="solid"/>
          </a:ln>
        </p:spPr>
        <p:txBody>
          <a:bodyPr/>
          <a:lstStyle/>
          <a:p>
            <a:endParaRPr lang="en-US"/>
          </a:p>
        </p:txBody>
      </p:sp>
      <p:pic>
        <p:nvPicPr>
          <p:cNvPr id="28" name="Image 6" descr="preencoded.png"/>
          <p:cNvPicPr>
            <a:picLocks noChangeAspect="1"/>
          </p:cNvPicPr>
          <p:nvPr/>
        </p:nvPicPr>
        <p:blipFill>
          <a:blip r:embed="rId7"/>
          <a:stretch>
            <a:fillRect/>
          </a:stretch>
        </p:blipFill>
        <p:spPr>
          <a:xfrm>
            <a:off x="9735617" y="2959913"/>
            <a:ext cx="435254" cy="435254"/>
          </a:xfrm>
          <a:prstGeom prst="rect">
            <a:avLst/>
          </a:prstGeom>
        </p:spPr>
      </p:pic>
      <p:sp>
        <p:nvSpPr>
          <p:cNvPr id="29" name="Text 20"/>
          <p:cNvSpPr txBox="1"/>
          <p:nvPr/>
        </p:nvSpPr>
        <p:spPr>
          <a:xfrm>
            <a:off x="9564624" y="3749040"/>
            <a:ext cx="1828800" cy="411480"/>
          </a:xfrm>
          <a:prstGeom prst="rect">
            <a:avLst/>
          </a:prstGeom>
          <a:noFill/>
          <a:ln/>
        </p:spPr>
        <p:txBody>
          <a:bodyPr wrap="square" lIns="0" tIns="0" rIns="0" bIns="0" rtlCol="0" anchor="t"/>
          <a:lstStyle/>
          <a:p>
            <a:pPr marL="0" indent="0">
              <a:buNone/>
            </a:pPr>
            <a:r>
              <a:rPr lang="en-US" sz="2000" b="1" dirty="0">
                <a:solidFill>
                  <a:srgbClr val="1C1C1E"/>
                </a:solidFill>
                <a:latin typeface="Arial" pitchFamily="34" charset="0"/>
                <a:ea typeface="Arial" pitchFamily="34" charset="-122"/>
                <a:cs typeface="Arial" pitchFamily="34" charset="-120"/>
              </a:rPr>
              <a:t>Resize</a:t>
            </a:r>
            <a:endParaRPr lang="en-US" sz="2000" dirty="0"/>
          </a:p>
        </p:txBody>
      </p:sp>
      <p:sp>
        <p:nvSpPr>
          <p:cNvPr id="30" name="Text 21"/>
          <p:cNvSpPr txBox="1"/>
          <p:nvPr/>
        </p:nvSpPr>
        <p:spPr>
          <a:xfrm>
            <a:off x="9564624" y="4206240"/>
            <a:ext cx="1828800" cy="118872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Shrink every slice to 256 × 256 to save memory and time. Saved once as .npz files.</a:t>
            </a:r>
            <a:endParaRPr lang="en-US" sz="15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708CC-505F-7219-B0E9-0A0EA8B390D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AE0B858-B6E5-B038-34BD-31EB2EF83371}"/>
              </a:ext>
            </a:extLst>
          </p:cNvPr>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300" b="1" kern="0" spc="150" dirty="0">
                <a:solidFill>
                  <a:srgbClr val="0058B8"/>
                </a:solidFill>
                <a:latin typeface="Arial" pitchFamily="34" charset="0"/>
                <a:ea typeface="Arial" pitchFamily="34" charset="-122"/>
                <a:cs typeface="Arial" pitchFamily="34" charset="-120"/>
              </a:rPr>
              <a:t>03 · PREPARATION</a:t>
            </a:r>
            <a:endParaRPr lang="en-US" sz="1300" dirty="0"/>
          </a:p>
        </p:txBody>
      </p:sp>
      <p:sp>
        <p:nvSpPr>
          <p:cNvPr id="3" name="Text 0">
            <a:extLst>
              <a:ext uri="{FF2B5EF4-FFF2-40B4-BE49-F238E27FC236}">
                <a16:creationId xmlns:a16="http://schemas.microsoft.com/office/drawing/2014/main" id="{79C69B7F-229C-3071-206D-DA17280E5260}"/>
              </a:ext>
            </a:extLst>
          </p:cNvPr>
          <p:cNvSpPr>
            <a:spLocks noGrp="1"/>
          </p:cNvSpPr>
          <p:nvPr>
            <p:ph type="title" idx="100"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600" b="1" dirty="0">
                <a:solidFill>
                  <a:srgbClr val="1C1C1E"/>
                </a:solidFill>
                <a:latin typeface="Arial" pitchFamily="34" charset="0"/>
                <a:ea typeface="Arial" pitchFamily="34" charset="-122"/>
                <a:cs typeface="Arial" pitchFamily="34" charset="-120"/>
              </a:rPr>
              <a:t>The Augmentation Methods We chose</a:t>
            </a:r>
            <a:endParaRPr lang="en-US" sz="3600" dirty="0"/>
          </a:p>
        </p:txBody>
      </p:sp>
      <p:sp>
        <p:nvSpPr>
          <p:cNvPr id="31" name="Slide Number Placeholder 0">
            <a:extLst>
              <a:ext uri="{FF2B5EF4-FFF2-40B4-BE49-F238E27FC236}">
                <a16:creationId xmlns:a16="http://schemas.microsoft.com/office/drawing/2014/main" id="{E96BA47B-4EF2-B742-22FD-46E35EFCA2C5}"/>
              </a:ext>
            </a:extLst>
          </p:cNvPr>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5</a:t>
            </a:fld>
            <a:endParaRPr lang="en-US"/>
          </a:p>
        </p:txBody>
      </p:sp>
      <p:pic>
        <p:nvPicPr>
          <p:cNvPr id="33" name="Picture 32">
            <a:extLst>
              <a:ext uri="{FF2B5EF4-FFF2-40B4-BE49-F238E27FC236}">
                <a16:creationId xmlns:a16="http://schemas.microsoft.com/office/drawing/2014/main" id="{D622D67E-F376-6328-B8C0-4DA71073A47B}"/>
              </a:ext>
            </a:extLst>
          </p:cNvPr>
          <p:cNvPicPr>
            <a:picLocks noChangeAspect="1"/>
          </p:cNvPicPr>
          <p:nvPr/>
        </p:nvPicPr>
        <p:blipFill>
          <a:blip r:embed="rId3"/>
          <a:srcRect b="50106"/>
          <a:stretch>
            <a:fillRect/>
          </a:stretch>
        </p:blipFill>
        <p:spPr>
          <a:xfrm>
            <a:off x="1499774" y="1456984"/>
            <a:ext cx="6562773" cy="2285902"/>
          </a:xfrm>
          <a:prstGeom prst="rect">
            <a:avLst/>
          </a:prstGeom>
        </p:spPr>
      </p:pic>
      <p:pic>
        <p:nvPicPr>
          <p:cNvPr id="35" name="Picture 34">
            <a:extLst>
              <a:ext uri="{FF2B5EF4-FFF2-40B4-BE49-F238E27FC236}">
                <a16:creationId xmlns:a16="http://schemas.microsoft.com/office/drawing/2014/main" id="{706A076F-242C-52A3-EFEF-1336D713851D}"/>
              </a:ext>
            </a:extLst>
          </p:cNvPr>
          <p:cNvPicPr>
            <a:picLocks noChangeAspect="1"/>
          </p:cNvPicPr>
          <p:nvPr/>
        </p:nvPicPr>
        <p:blipFill>
          <a:blip r:embed="rId3"/>
          <a:srcRect t="50107"/>
          <a:stretch>
            <a:fillRect/>
          </a:stretch>
        </p:blipFill>
        <p:spPr>
          <a:xfrm>
            <a:off x="3759555" y="3796320"/>
            <a:ext cx="6562773" cy="2285903"/>
          </a:xfrm>
          <a:prstGeom prst="rect">
            <a:avLst/>
          </a:prstGeom>
        </p:spPr>
      </p:pic>
    </p:spTree>
    <p:extLst>
      <p:ext uri="{BB962C8B-B14F-4D97-AF65-F5344CB8AC3E}">
        <p14:creationId xmlns:p14="http://schemas.microsoft.com/office/powerpoint/2010/main" val="3199923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300" b="1" kern="0" spc="150" dirty="0">
                <a:solidFill>
                  <a:srgbClr val="0058B8"/>
                </a:solidFill>
                <a:latin typeface="Arial" pitchFamily="34" charset="0"/>
                <a:ea typeface="Arial" pitchFamily="34" charset="-122"/>
                <a:cs typeface="Arial" pitchFamily="34" charset="-120"/>
              </a:rPr>
              <a:t>04 · MODEL 1</a:t>
            </a:r>
            <a:endParaRPr lang="en-US" sz="1300" dirty="0"/>
          </a:p>
        </p:txBody>
      </p:sp>
      <p:sp>
        <p:nvSpPr>
          <p:cNvPr id="3" name="Text 0"/>
          <p:cNvSpPr>
            <a:spLocks noGrp="1"/>
          </p:cNvSpPr>
          <p:nvPr>
            <p:ph type="title" idx="100"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600" b="1" dirty="0">
                <a:solidFill>
                  <a:srgbClr val="1C1C1E"/>
                </a:solidFill>
                <a:latin typeface="Arial" pitchFamily="34" charset="0"/>
                <a:ea typeface="Arial" pitchFamily="34" charset="-122"/>
                <a:cs typeface="Arial" pitchFamily="34" charset="-120"/>
              </a:rPr>
              <a:t>ResNet18 reads one slice at a time</a:t>
            </a:r>
            <a:endParaRPr lang="en-US" sz="3600" dirty="0"/>
          </a:p>
        </p:txBody>
      </p:sp>
      <p:sp>
        <p:nvSpPr>
          <p:cNvPr id="4" name="Shape 2"/>
          <p:cNvSpPr/>
          <p:nvPr/>
        </p:nvSpPr>
        <p:spPr>
          <a:xfrm>
            <a:off x="822960" y="1940209"/>
            <a:ext cx="2743200" cy="2743200"/>
          </a:xfrm>
          <a:prstGeom prst="roundRect">
            <a:avLst>
              <a:gd name="adj" fmla="val 6667"/>
            </a:avLst>
          </a:prstGeom>
          <a:solidFill>
            <a:srgbClr val="C7C7CC"/>
          </a:solidFill>
          <a:ln w="254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5" name="Shape 3"/>
          <p:cNvSpPr/>
          <p:nvPr/>
        </p:nvSpPr>
        <p:spPr>
          <a:xfrm>
            <a:off x="1234440" y="2351689"/>
            <a:ext cx="2743200" cy="2743200"/>
          </a:xfrm>
          <a:prstGeom prst="roundRect">
            <a:avLst>
              <a:gd name="adj" fmla="val 6667"/>
            </a:avLst>
          </a:prstGeom>
          <a:solidFill>
            <a:srgbClr val="AEAEB2"/>
          </a:solidFill>
          <a:ln w="254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6" name="Shape 4"/>
          <p:cNvSpPr/>
          <p:nvPr/>
        </p:nvSpPr>
        <p:spPr>
          <a:xfrm>
            <a:off x="1645920" y="2763169"/>
            <a:ext cx="2743200" cy="2743200"/>
          </a:xfrm>
          <a:prstGeom prst="roundRect">
            <a:avLst>
              <a:gd name="adj" fmla="val 6667"/>
            </a:avLst>
          </a:prstGeom>
          <a:solidFill>
            <a:srgbClr val="3A3A3C"/>
          </a:solidFill>
          <a:ln w="254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7" name="Text 5"/>
          <p:cNvSpPr txBox="1"/>
          <p:nvPr/>
        </p:nvSpPr>
        <p:spPr>
          <a:xfrm>
            <a:off x="1645920" y="3906169"/>
            <a:ext cx="2743200" cy="457200"/>
          </a:xfrm>
          <a:prstGeom prst="rect">
            <a:avLst/>
          </a:prstGeom>
          <a:noFill/>
          <a:ln/>
        </p:spPr>
        <p:txBody>
          <a:bodyPr wrap="square" lIns="0" tIns="0" rIns="0" bIns="0" rtlCol="0" anchor="t"/>
          <a:lstStyle/>
          <a:p>
            <a:pPr marL="0" indent="0" algn="ctr">
              <a:buNone/>
            </a:pPr>
            <a:r>
              <a:rPr lang="en-US" sz="1800" b="1" dirty="0">
                <a:solidFill>
                  <a:srgbClr val="F2F2F7"/>
                </a:solidFill>
                <a:latin typeface="Arial" pitchFamily="34" charset="0"/>
                <a:ea typeface="Arial" pitchFamily="34" charset="-122"/>
                <a:cs typeface="Arial" pitchFamily="34" charset="-120"/>
              </a:rPr>
              <a:t>slice i</a:t>
            </a:r>
            <a:endParaRPr lang="en-US" sz="1800" dirty="0"/>
          </a:p>
        </p:txBody>
      </p:sp>
      <p:sp>
        <p:nvSpPr>
          <p:cNvPr id="8" name="Text 6"/>
          <p:cNvSpPr txBox="1"/>
          <p:nvPr/>
        </p:nvSpPr>
        <p:spPr>
          <a:xfrm>
            <a:off x="548640" y="5806440"/>
            <a:ext cx="4389120" cy="320040"/>
          </a:xfrm>
          <a:prstGeom prst="rect">
            <a:avLst/>
          </a:prstGeom>
          <a:noFill/>
          <a:ln/>
        </p:spPr>
        <p:txBody>
          <a:bodyPr wrap="square" lIns="0" tIns="0" rIns="0" bIns="0" rtlCol="0" anchor="t"/>
          <a:lstStyle/>
          <a:p>
            <a:pPr marL="0" indent="0" algn="ctr">
              <a:buNone/>
            </a:pPr>
            <a:r>
              <a:rPr lang="en-US" sz="1400" dirty="0">
                <a:solidFill>
                  <a:srgbClr val="5E5E63"/>
                </a:solidFill>
                <a:latin typeface="Arial" pitchFamily="34" charset="0"/>
                <a:ea typeface="Arial" pitchFamily="34" charset="-122"/>
                <a:cs typeface="Arial" pitchFamily="34" charset="-120"/>
              </a:rPr>
              <a:t>neighbors above and below give 2.5D context</a:t>
            </a:r>
            <a:endParaRPr lang="en-US" sz="1400" dirty="0"/>
          </a:p>
        </p:txBody>
      </p:sp>
      <p:sp>
        <p:nvSpPr>
          <p:cNvPr id="9" name="m1-0"/>
          <p:cNvSpPr/>
          <p:nvPr/>
        </p:nvSpPr>
        <p:spPr>
          <a:xfrm>
            <a:off x="5577840" y="1828800"/>
            <a:ext cx="6035040" cy="1188720"/>
          </a:xfrm>
          <a:prstGeom prst="roundRect">
            <a:avLst>
              <a:gd name="adj" fmla="val 13846"/>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0" name="Shape 8"/>
          <p:cNvSpPr/>
          <p:nvPr/>
        </p:nvSpPr>
        <p:spPr>
          <a:xfrm>
            <a:off x="5852160" y="2103120"/>
            <a:ext cx="548640" cy="548640"/>
          </a:xfrm>
          <a:prstGeom prst="ellipse">
            <a:avLst/>
          </a:prstGeom>
          <a:solidFill>
            <a:srgbClr val="007AFF"/>
          </a:solidFill>
          <a:ln w="12700">
            <a:solidFill>
              <a:srgbClr val="007AFF"/>
            </a:solidFill>
            <a:prstDash val="solid"/>
          </a:ln>
        </p:spPr>
        <p:txBody>
          <a:bodyPr/>
          <a:lstStyle/>
          <a:p>
            <a:endParaRPr lang="en-US"/>
          </a:p>
        </p:txBody>
      </p:sp>
      <p:sp>
        <p:nvSpPr>
          <p:cNvPr id="11" name="Text 9"/>
          <p:cNvSpPr txBox="1"/>
          <p:nvPr/>
        </p:nvSpPr>
        <p:spPr>
          <a:xfrm>
            <a:off x="5852160" y="21031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2" name="Text 10"/>
          <p:cNvSpPr txBox="1"/>
          <p:nvPr/>
        </p:nvSpPr>
        <p:spPr>
          <a:xfrm>
            <a:off x="6675120" y="1993392"/>
            <a:ext cx="4754880" cy="365760"/>
          </a:xfrm>
          <a:prstGeom prst="rect">
            <a:avLst/>
          </a:prstGeom>
          <a:noFill/>
          <a:ln/>
        </p:spPr>
        <p:txBody>
          <a:bodyPr wrap="square" lIns="0" tIns="0" rIns="0" bIns="0" rtlCol="0" anchor="t"/>
          <a:lstStyle/>
          <a:p>
            <a:pPr marL="0" indent="0">
              <a:buNone/>
            </a:pPr>
            <a:r>
              <a:rPr lang="en-US" sz="1800" b="1" dirty="0">
                <a:solidFill>
                  <a:srgbClr val="1C1C1E"/>
                </a:solidFill>
                <a:latin typeface="Arial" pitchFamily="34" charset="0"/>
                <a:ea typeface="Arial" pitchFamily="34" charset="-122"/>
                <a:cs typeface="Arial" pitchFamily="34" charset="-120"/>
              </a:rPr>
              <a:t>Look at one slice plus its neighbors</a:t>
            </a:r>
            <a:endParaRPr lang="en-US" sz="1800" dirty="0"/>
          </a:p>
        </p:txBody>
      </p:sp>
      <p:sp>
        <p:nvSpPr>
          <p:cNvPr id="13" name="Text 11"/>
          <p:cNvSpPr txBox="1"/>
          <p:nvPr/>
        </p:nvSpPr>
        <p:spPr>
          <a:xfrm>
            <a:off x="6675120" y="2377440"/>
            <a:ext cx="4754880" cy="594360"/>
          </a:xfrm>
          <a:prstGeom prst="rect">
            <a:avLst/>
          </a:prstGeom>
          <a:noFill/>
          <a:ln/>
        </p:spPr>
        <p:txBody>
          <a:bodyPr wrap="square" lIns="0" tIns="0" rIns="0" bIns="0" rtlCol="0" anchor="t"/>
          <a:lstStyle/>
          <a:p>
            <a:pPr marL="0" indent="0">
              <a:buNone/>
            </a:pPr>
            <a:r>
              <a:rPr lang="en-US" sz="1400" dirty="0">
                <a:solidFill>
                  <a:srgbClr val="5E5E63"/>
                </a:solidFill>
                <a:latin typeface="Arial" pitchFamily="34" charset="0"/>
                <a:ea typeface="Arial" pitchFamily="34" charset="-122"/>
                <a:cs typeface="Arial" pitchFamily="34" charset="-120"/>
              </a:rPr>
              <a:t>The slices just above and below help it tell a clot (which continues across slices) from noise.</a:t>
            </a:r>
            <a:endParaRPr lang="en-US" sz="1400" dirty="0"/>
          </a:p>
        </p:txBody>
      </p:sp>
      <p:sp>
        <p:nvSpPr>
          <p:cNvPr id="14" name="m1-1"/>
          <p:cNvSpPr/>
          <p:nvPr/>
        </p:nvSpPr>
        <p:spPr>
          <a:xfrm>
            <a:off x="5577840" y="3200400"/>
            <a:ext cx="6035040" cy="1188720"/>
          </a:xfrm>
          <a:prstGeom prst="roundRect">
            <a:avLst>
              <a:gd name="adj" fmla="val 13846"/>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5" name="Shape 13"/>
          <p:cNvSpPr/>
          <p:nvPr/>
        </p:nvSpPr>
        <p:spPr>
          <a:xfrm>
            <a:off x="5852160" y="3474720"/>
            <a:ext cx="548640" cy="548640"/>
          </a:xfrm>
          <a:prstGeom prst="ellipse">
            <a:avLst/>
          </a:prstGeom>
          <a:solidFill>
            <a:srgbClr val="007AFF"/>
          </a:solidFill>
          <a:ln w="12700">
            <a:solidFill>
              <a:srgbClr val="007AFF"/>
            </a:solidFill>
            <a:prstDash val="solid"/>
          </a:ln>
        </p:spPr>
        <p:txBody>
          <a:bodyPr/>
          <a:lstStyle/>
          <a:p>
            <a:endParaRPr lang="en-US"/>
          </a:p>
        </p:txBody>
      </p:sp>
      <p:sp>
        <p:nvSpPr>
          <p:cNvPr id="16" name="Text 14"/>
          <p:cNvSpPr txBox="1"/>
          <p:nvPr/>
        </p:nvSpPr>
        <p:spPr>
          <a:xfrm>
            <a:off x="5852160" y="34747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7" name="Text 15"/>
          <p:cNvSpPr txBox="1"/>
          <p:nvPr/>
        </p:nvSpPr>
        <p:spPr>
          <a:xfrm>
            <a:off x="6675120" y="3364992"/>
            <a:ext cx="4754880" cy="365760"/>
          </a:xfrm>
          <a:prstGeom prst="rect">
            <a:avLst/>
          </a:prstGeom>
          <a:noFill/>
          <a:ln/>
        </p:spPr>
        <p:txBody>
          <a:bodyPr wrap="square" lIns="0" tIns="0" rIns="0" bIns="0" rtlCol="0" anchor="t"/>
          <a:lstStyle/>
          <a:p>
            <a:pPr marL="0" indent="0">
              <a:buNone/>
            </a:pPr>
            <a:r>
              <a:rPr lang="en-US" sz="1800" b="1" dirty="0">
                <a:solidFill>
                  <a:srgbClr val="1C1C1E"/>
                </a:solidFill>
                <a:latin typeface="Arial" pitchFamily="34" charset="0"/>
                <a:ea typeface="Arial" pitchFamily="34" charset="-122"/>
                <a:cs typeface="Arial" pitchFamily="34" charset="-120"/>
              </a:rPr>
              <a:t>Predict a clot score for that slice</a:t>
            </a:r>
            <a:endParaRPr lang="en-US" sz="1800" dirty="0"/>
          </a:p>
        </p:txBody>
      </p:sp>
      <p:sp>
        <p:nvSpPr>
          <p:cNvPr id="18" name="Text 16"/>
          <p:cNvSpPr txBox="1"/>
          <p:nvPr/>
        </p:nvSpPr>
        <p:spPr>
          <a:xfrm>
            <a:off x="6675120" y="3749040"/>
            <a:ext cx="4754880" cy="594360"/>
          </a:xfrm>
          <a:prstGeom prst="rect">
            <a:avLst/>
          </a:prstGeom>
          <a:noFill/>
          <a:ln/>
        </p:spPr>
        <p:txBody>
          <a:bodyPr wrap="square" lIns="0" tIns="0" rIns="0" bIns="0" rtlCol="0" anchor="t"/>
          <a:lstStyle/>
          <a:p>
            <a:pPr marL="0" indent="0">
              <a:buNone/>
            </a:pPr>
            <a:r>
              <a:rPr lang="en-US" sz="1400" dirty="0">
                <a:solidFill>
                  <a:srgbClr val="5E5E63"/>
                </a:solidFill>
                <a:latin typeface="Arial" pitchFamily="34" charset="0"/>
                <a:ea typeface="Arial" pitchFamily="34" charset="-122"/>
                <a:cs typeface="Arial" pitchFamily="34" charset="-120"/>
              </a:rPr>
              <a:t>ResNet18 pretrained on ImageNet, final layer replaced with one output: the chance of a clot, 0 to 1.</a:t>
            </a:r>
            <a:endParaRPr lang="en-US" sz="1400" dirty="0"/>
          </a:p>
        </p:txBody>
      </p:sp>
      <p:sp>
        <p:nvSpPr>
          <p:cNvPr id="19" name="m1-2"/>
          <p:cNvSpPr/>
          <p:nvPr/>
        </p:nvSpPr>
        <p:spPr>
          <a:xfrm>
            <a:off x="5577840" y="4572000"/>
            <a:ext cx="6035040" cy="1188720"/>
          </a:xfrm>
          <a:prstGeom prst="roundRect">
            <a:avLst>
              <a:gd name="adj" fmla="val 13846"/>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20" name="Shape 18"/>
          <p:cNvSpPr/>
          <p:nvPr/>
        </p:nvSpPr>
        <p:spPr>
          <a:xfrm>
            <a:off x="5852160" y="4846320"/>
            <a:ext cx="548640" cy="548640"/>
          </a:xfrm>
          <a:prstGeom prst="ellipse">
            <a:avLst/>
          </a:prstGeom>
          <a:solidFill>
            <a:srgbClr val="007AFF"/>
          </a:solidFill>
          <a:ln w="12700">
            <a:solidFill>
              <a:srgbClr val="007AFF"/>
            </a:solidFill>
            <a:prstDash val="solid"/>
          </a:ln>
        </p:spPr>
        <p:txBody>
          <a:bodyPr/>
          <a:lstStyle/>
          <a:p>
            <a:endParaRPr lang="en-US"/>
          </a:p>
        </p:txBody>
      </p:sp>
      <p:sp>
        <p:nvSpPr>
          <p:cNvPr id="21" name="Text 19"/>
          <p:cNvSpPr txBox="1"/>
          <p:nvPr/>
        </p:nvSpPr>
        <p:spPr>
          <a:xfrm>
            <a:off x="5852160" y="48463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2" name="Text 20"/>
          <p:cNvSpPr txBox="1"/>
          <p:nvPr/>
        </p:nvSpPr>
        <p:spPr>
          <a:xfrm>
            <a:off x="6675120" y="4736592"/>
            <a:ext cx="4754880" cy="365760"/>
          </a:xfrm>
          <a:prstGeom prst="rect">
            <a:avLst/>
          </a:prstGeom>
          <a:noFill/>
          <a:ln/>
        </p:spPr>
        <p:txBody>
          <a:bodyPr wrap="square" lIns="0" tIns="0" rIns="0" bIns="0" rtlCol="0" anchor="t"/>
          <a:lstStyle/>
          <a:p>
            <a:pPr marL="0" indent="0">
              <a:buNone/>
            </a:pPr>
            <a:r>
              <a:rPr lang="en-US" sz="1800" b="1" dirty="0">
                <a:solidFill>
                  <a:srgbClr val="1C1C1E"/>
                </a:solidFill>
                <a:latin typeface="Arial" pitchFamily="34" charset="0"/>
                <a:ea typeface="Arial" pitchFamily="34" charset="-122"/>
                <a:cs typeface="Arial" pitchFamily="34" charset="-120"/>
              </a:rPr>
              <a:t>Patient score = highest slice score</a:t>
            </a:r>
            <a:endParaRPr lang="en-US" sz="1800" dirty="0"/>
          </a:p>
        </p:txBody>
      </p:sp>
      <p:sp>
        <p:nvSpPr>
          <p:cNvPr id="23" name="Text 21"/>
          <p:cNvSpPr txBox="1"/>
          <p:nvPr/>
        </p:nvSpPr>
        <p:spPr>
          <a:xfrm>
            <a:off x="6675120" y="5120640"/>
            <a:ext cx="4754880" cy="594360"/>
          </a:xfrm>
          <a:prstGeom prst="rect">
            <a:avLst/>
          </a:prstGeom>
          <a:noFill/>
          <a:ln/>
        </p:spPr>
        <p:txBody>
          <a:bodyPr wrap="square" lIns="0" tIns="0" rIns="0" bIns="0" rtlCol="0" anchor="t"/>
          <a:lstStyle/>
          <a:p>
            <a:pPr marL="0" indent="0">
              <a:buNone/>
            </a:pPr>
            <a:r>
              <a:rPr lang="en-US" sz="1400" dirty="0">
                <a:solidFill>
                  <a:srgbClr val="5E5E63"/>
                </a:solidFill>
                <a:latin typeface="Arial" pitchFamily="34" charset="0"/>
                <a:ea typeface="Arial" pitchFamily="34" charset="-122"/>
                <a:cs typeface="Arial" pitchFamily="34" charset="-120"/>
              </a:rPr>
              <a:t>If any slice looks like a clot, the patient is flagged. One clear clot is enough for PE.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300" b="1" kern="0" spc="150" dirty="0">
                <a:solidFill>
                  <a:srgbClr val="0058B8"/>
                </a:solidFill>
                <a:latin typeface="Arial" pitchFamily="34" charset="0"/>
                <a:ea typeface="Arial" pitchFamily="34" charset="-122"/>
                <a:cs typeface="Arial" pitchFamily="34" charset="-120"/>
              </a:rPr>
              <a:t>05 · THREE MODELS</a:t>
            </a:r>
            <a:endParaRPr lang="en-US" sz="1300" dirty="0"/>
          </a:p>
        </p:txBody>
      </p:sp>
      <p:sp>
        <p:nvSpPr>
          <p:cNvPr id="3" name="Text 0"/>
          <p:cNvSpPr>
            <a:spLocks noGrp="1"/>
          </p:cNvSpPr>
          <p:nvPr>
            <p:ph type="title" idx="100"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600" b="1" dirty="0">
                <a:solidFill>
                  <a:srgbClr val="1C1C1E"/>
                </a:solidFill>
                <a:latin typeface="Arial" pitchFamily="34" charset="0"/>
                <a:ea typeface="Arial" pitchFamily="34" charset="-122"/>
                <a:cs typeface="Arial" pitchFamily="34" charset="-120"/>
              </a:rPr>
              <a:t>Same data, same rules, three approaches</a:t>
            </a:r>
            <a:endParaRPr lang="en-US" sz="3600" dirty="0"/>
          </a:p>
        </p:txBody>
      </p:sp>
      <p:sp>
        <p:nvSpPr>
          <p:cNvPr id="4" name="model-0"/>
          <p:cNvSpPr/>
          <p:nvPr/>
        </p:nvSpPr>
        <p:spPr>
          <a:xfrm>
            <a:off x="4297114" y="1783080"/>
            <a:ext cx="3502152" cy="4206240"/>
          </a:xfrm>
          <a:prstGeom prst="roundRect">
            <a:avLst>
              <a:gd name="adj" fmla="val 4700"/>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5" name="Shape 3"/>
          <p:cNvSpPr/>
          <p:nvPr/>
        </p:nvSpPr>
        <p:spPr>
          <a:xfrm>
            <a:off x="4662874" y="2148840"/>
            <a:ext cx="1097280" cy="329184"/>
          </a:xfrm>
          <a:prstGeom prst="roundRect">
            <a:avLst>
              <a:gd name="adj" fmla="val 50000"/>
            </a:avLst>
          </a:prstGeom>
          <a:solidFill>
            <a:srgbClr val="E5F0FF"/>
          </a:solidFill>
          <a:ln w="12700">
            <a:solidFill>
              <a:srgbClr val="E5F0FF"/>
            </a:solidFill>
            <a:prstDash val="solid"/>
          </a:ln>
        </p:spPr>
        <p:txBody>
          <a:bodyPr/>
          <a:lstStyle/>
          <a:p>
            <a:endParaRPr lang="en-US"/>
          </a:p>
        </p:txBody>
      </p:sp>
      <p:sp>
        <p:nvSpPr>
          <p:cNvPr id="6" name="Text 4"/>
          <p:cNvSpPr txBox="1"/>
          <p:nvPr/>
        </p:nvSpPr>
        <p:spPr>
          <a:xfrm>
            <a:off x="4662874" y="2148840"/>
            <a:ext cx="1097280" cy="329184"/>
          </a:xfrm>
          <a:prstGeom prst="rect">
            <a:avLst/>
          </a:prstGeom>
          <a:noFill/>
          <a:ln/>
        </p:spPr>
        <p:txBody>
          <a:bodyPr wrap="square" lIns="0" tIns="0" rIns="0" bIns="0" rtlCol="0" anchor="ctr"/>
          <a:lstStyle/>
          <a:p>
            <a:pPr marL="0" indent="0" algn="ctr">
              <a:buNone/>
            </a:pPr>
            <a:r>
              <a:rPr lang="en-US" sz="1200" b="1" dirty="0">
                <a:solidFill>
                  <a:srgbClr val="0058B8"/>
                </a:solidFill>
                <a:latin typeface="Arial" pitchFamily="34" charset="0"/>
                <a:ea typeface="Arial" pitchFamily="34" charset="-122"/>
                <a:cs typeface="Arial" pitchFamily="34" charset="-120"/>
              </a:rPr>
              <a:t>2D CNN</a:t>
            </a:r>
            <a:endParaRPr lang="en-US" sz="1200" dirty="0"/>
          </a:p>
        </p:txBody>
      </p:sp>
      <p:sp>
        <p:nvSpPr>
          <p:cNvPr id="7" name="Text 5"/>
          <p:cNvSpPr txBox="1"/>
          <p:nvPr/>
        </p:nvSpPr>
        <p:spPr>
          <a:xfrm>
            <a:off x="4662874" y="2697480"/>
            <a:ext cx="2770632" cy="548640"/>
          </a:xfrm>
          <a:prstGeom prst="rect">
            <a:avLst/>
          </a:prstGeom>
          <a:noFill/>
          <a:ln/>
        </p:spPr>
        <p:txBody>
          <a:bodyPr wrap="square" lIns="0" tIns="0" rIns="0" bIns="0" rtlCol="0" anchor="t"/>
          <a:lstStyle/>
          <a:p>
            <a:pPr marL="0" indent="0">
              <a:buNone/>
            </a:pPr>
            <a:r>
              <a:rPr lang="en-US" sz="2600" b="1" dirty="0">
                <a:solidFill>
                  <a:srgbClr val="1C1C1E"/>
                </a:solidFill>
                <a:latin typeface="Arial" pitchFamily="34" charset="0"/>
                <a:ea typeface="Arial" pitchFamily="34" charset="-122"/>
                <a:cs typeface="Arial" pitchFamily="34" charset="-120"/>
              </a:rPr>
              <a:t>ResNet18</a:t>
            </a:r>
            <a:endParaRPr lang="en-US" sz="2600" dirty="0"/>
          </a:p>
        </p:txBody>
      </p:sp>
      <p:sp>
        <p:nvSpPr>
          <p:cNvPr id="8" name="Text 6"/>
          <p:cNvSpPr txBox="1"/>
          <p:nvPr/>
        </p:nvSpPr>
        <p:spPr>
          <a:xfrm>
            <a:off x="4662874" y="3429000"/>
            <a:ext cx="2770632"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5E5E63"/>
                </a:solidFill>
                <a:latin typeface="Arial" pitchFamily="34" charset="0"/>
                <a:ea typeface="Arial" pitchFamily="34" charset="-122"/>
                <a:cs typeface="Arial" pitchFamily="34" charset="-120"/>
              </a:rPr>
              <a:t>2.5D slices, slice labels</a:t>
            </a:r>
            <a:endParaRPr lang="en-US" sz="1600" dirty="0"/>
          </a:p>
          <a:p>
            <a:pPr marL="342900" indent="-342900">
              <a:spcAft>
                <a:spcPts val="800"/>
              </a:spcAft>
              <a:buSzPct val="100000"/>
              <a:buChar char="•"/>
            </a:pPr>
            <a:r>
              <a:rPr lang="en-US" sz="1600" dirty="0">
                <a:solidFill>
                  <a:srgbClr val="5E5E63"/>
                </a:solidFill>
                <a:latin typeface="Arial" pitchFamily="34" charset="0"/>
                <a:ea typeface="Arial" pitchFamily="34" charset="-122"/>
                <a:cs typeface="Arial" pitchFamily="34" charset="-120"/>
              </a:rPr>
              <a:t>Pretrained on ImageNet</a:t>
            </a:r>
            <a:endParaRPr lang="en-US" sz="1600" dirty="0"/>
          </a:p>
          <a:p>
            <a:pPr marL="342900" indent="-342900">
              <a:spcAft>
                <a:spcPts val="800"/>
              </a:spcAft>
              <a:buSzPct val="100000"/>
              <a:buChar char="•"/>
            </a:pPr>
            <a:r>
              <a:rPr lang="en-US" sz="1600" dirty="0">
                <a:solidFill>
                  <a:srgbClr val="5E5E63"/>
                </a:solidFill>
                <a:latin typeface="Arial" pitchFamily="34" charset="0"/>
                <a:ea typeface="Arial" pitchFamily="34" charset="-122"/>
                <a:cs typeface="Arial" pitchFamily="34" charset="-120"/>
              </a:rPr>
              <a:t>~11M parameters</a:t>
            </a:r>
            <a:endParaRPr lang="en-US" sz="1600" dirty="0"/>
          </a:p>
        </p:txBody>
      </p:sp>
      <p:sp>
        <p:nvSpPr>
          <p:cNvPr id="9" name="model-1"/>
          <p:cNvSpPr/>
          <p:nvPr/>
        </p:nvSpPr>
        <p:spPr>
          <a:xfrm>
            <a:off x="8073586" y="1783080"/>
            <a:ext cx="3502152" cy="4206240"/>
          </a:xfrm>
          <a:prstGeom prst="roundRect">
            <a:avLst>
              <a:gd name="adj" fmla="val 4700"/>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0" name="Shape 8"/>
          <p:cNvSpPr/>
          <p:nvPr/>
        </p:nvSpPr>
        <p:spPr>
          <a:xfrm>
            <a:off x="8439346" y="2148840"/>
            <a:ext cx="1097280" cy="329184"/>
          </a:xfrm>
          <a:prstGeom prst="roundRect">
            <a:avLst>
              <a:gd name="adj" fmla="val 50000"/>
            </a:avLst>
          </a:prstGeom>
          <a:solidFill>
            <a:srgbClr val="E5F0FF"/>
          </a:solidFill>
          <a:ln w="12700">
            <a:solidFill>
              <a:srgbClr val="E5F0FF"/>
            </a:solidFill>
            <a:prstDash val="solid"/>
          </a:ln>
        </p:spPr>
        <p:txBody>
          <a:bodyPr/>
          <a:lstStyle/>
          <a:p>
            <a:endParaRPr lang="en-US"/>
          </a:p>
        </p:txBody>
      </p:sp>
      <p:sp>
        <p:nvSpPr>
          <p:cNvPr id="11" name="Text 9"/>
          <p:cNvSpPr txBox="1"/>
          <p:nvPr/>
        </p:nvSpPr>
        <p:spPr>
          <a:xfrm>
            <a:off x="8439346" y="2148840"/>
            <a:ext cx="1097280" cy="329184"/>
          </a:xfrm>
          <a:prstGeom prst="rect">
            <a:avLst/>
          </a:prstGeom>
          <a:noFill/>
          <a:ln/>
        </p:spPr>
        <p:txBody>
          <a:bodyPr wrap="square" lIns="0" tIns="0" rIns="0" bIns="0" rtlCol="0" anchor="ctr"/>
          <a:lstStyle/>
          <a:p>
            <a:pPr marL="0" indent="0" algn="ctr">
              <a:buNone/>
            </a:pPr>
            <a:r>
              <a:rPr lang="en-US" sz="1200" b="1" dirty="0">
                <a:solidFill>
                  <a:srgbClr val="0058B8"/>
                </a:solidFill>
                <a:latin typeface="Arial" pitchFamily="34" charset="0"/>
                <a:ea typeface="Arial" pitchFamily="34" charset="-122"/>
                <a:cs typeface="Arial" pitchFamily="34" charset="-120"/>
              </a:rPr>
              <a:t>2D CNN</a:t>
            </a:r>
            <a:endParaRPr lang="en-US" sz="1200" dirty="0"/>
          </a:p>
        </p:txBody>
      </p:sp>
      <p:sp>
        <p:nvSpPr>
          <p:cNvPr id="12" name="Text 10"/>
          <p:cNvSpPr txBox="1"/>
          <p:nvPr/>
        </p:nvSpPr>
        <p:spPr>
          <a:xfrm>
            <a:off x="8439346" y="2697480"/>
            <a:ext cx="2770632" cy="548640"/>
          </a:xfrm>
          <a:prstGeom prst="rect">
            <a:avLst/>
          </a:prstGeom>
          <a:noFill/>
          <a:ln/>
        </p:spPr>
        <p:txBody>
          <a:bodyPr wrap="square" lIns="0" tIns="0" rIns="0" bIns="0" rtlCol="0" anchor="t"/>
          <a:lstStyle/>
          <a:p>
            <a:pPr marL="0" indent="0">
              <a:buNone/>
            </a:pPr>
            <a:r>
              <a:rPr lang="en-US" sz="2600" b="1" dirty="0">
                <a:solidFill>
                  <a:srgbClr val="1C1C1E"/>
                </a:solidFill>
                <a:latin typeface="Arial" pitchFamily="34" charset="0"/>
                <a:ea typeface="Arial" pitchFamily="34" charset="-122"/>
                <a:cs typeface="Arial" pitchFamily="34" charset="-120"/>
              </a:rPr>
              <a:t>EfficientNet-B0</a:t>
            </a:r>
            <a:endParaRPr lang="en-US" sz="2600" dirty="0"/>
          </a:p>
        </p:txBody>
      </p:sp>
      <p:sp>
        <p:nvSpPr>
          <p:cNvPr id="13" name="Text 11"/>
          <p:cNvSpPr txBox="1"/>
          <p:nvPr/>
        </p:nvSpPr>
        <p:spPr>
          <a:xfrm>
            <a:off x="8439346" y="3429000"/>
            <a:ext cx="2770632"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5E5E63"/>
                </a:solidFill>
                <a:latin typeface="Arial" pitchFamily="34" charset="0"/>
                <a:ea typeface="Arial" pitchFamily="34" charset="-122"/>
                <a:cs typeface="Arial" pitchFamily="34" charset="-120"/>
              </a:rPr>
              <a:t>Same pipeline, new backbone</a:t>
            </a:r>
            <a:endParaRPr lang="en-US" sz="1600" dirty="0"/>
          </a:p>
          <a:p>
            <a:pPr marL="342900" indent="-342900">
              <a:spcAft>
                <a:spcPts val="800"/>
              </a:spcAft>
              <a:buSzPct val="100000"/>
              <a:buChar char="•"/>
            </a:pPr>
            <a:r>
              <a:rPr lang="en-US" sz="1600" dirty="0">
                <a:solidFill>
                  <a:srgbClr val="5E5E63"/>
                </a:solidFill>
                <a:latin typeface="Arial" pitchFamily="34" charset="0"/>
                <a:ea typeface="Arial" pitchFamily="34" charset="-122"/>
                <a:cs typeface="Arial" pitchFamily="34" charset="-120"/>
              </a:rPr>
              <a:t>Pretrained on ImageNet</a:t>
            </a:r>
            <a:endParaRPr lang="en-US" sz="1600" dirty="0"/>
          </a:p>
          <a:p>
            <a:pPr marL="342900" indent="-342900">
              <a:spcAft>
                <a:spcPts val="800"/>
              </a:spcAft>
              <a:buSzPct val="100000"/>
              <a:buChar char="•"/>
            </a:pPr>
            <a:r>
              <a:rPr lang="en-US" sz="1600" dirty="0">
                <a:solidFill>
                  <a:srgbClr val="5E5E63"/>
                </a:solidFill>
                <a:latin typeface="Arial" pitchFamily="34" charset="0"/>
                <a:ea typeface="Arial" pitchFamily="34" charset="-122"/>
                <a:cs typeface="Arial" pitchFamily="34" charset="-120"/>
              </a:rPr>
              <a:t>~5M parameters</a:t>
            </a:r>
            <a:endParaRPr lang="en-US" sz="1600" dirty="0"/>
          </a:p>
          <a:p>
            <a:pPr marL="342900" indent="-342900">
              <a:spcAft>
                <a:spcPts val="800"/>
              </a:spcAft>
              <a:buSzPct val="100000"/>
              <a:buChar char="•"/>
            </a:pPr>
            <a:r>
              <a:rPr lang="en-US" sz="1600" dirty="0">
                <a:solidFill>
                  <a:srgbClr val="5E5E63"/>
                </a:solidFill>
                <a:latin typeface="Arial" pitchFamily="34" charset="0"/>
                <a:ea typeface="Arial" pitchFamily="34" charset="-122"/>
                <a:cs typeface="Arial" pitchFamily="34" charset="-120"/>
              </a:rPr>
              <a:t>Tests: does a better 2D feature extractor help?</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7</a:t>
            </a:fld>
            <a:endParaRPr lang="en-US"/>
          </a:p>
        </p:txBody>
      </p:sp>
      <p:sp>
        <p:nvSpPr>
          <p:cNvPr id="19" name="model-0">
            <a:extLst>
              <a:ext uri="{FF2B5EF4-FFF2-40B4-BE49-F238E27FC236}">
                <a16:creationId xmlns:a16="http://schemas.microsoft.com/office/drawing/2014/main" id="{58511D5B-7125-F94D-AECC-C2ACAC78B137}"/>
              </a:ext>
            </a:extLst>
          </p:cNvPr>
          <p:cNvSpPr/>
          <p:nvPr/>
        </p:nvSpPr>
        <p:spPr>
          <a:xfrm>
            <a:off x="490897" y="1793490"/>
            <a:ext cx="3502152" cy="4206240"/>
          </a:xfrm>
          <a:prstGeom prst="roundRect">
            <a:avLst>
              <a:gd name="adj" fmla="val 4700"/>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20" name="Shape 3">
            <a:extLst>
              <a:ext uri="{FF2B5EF4-FFF2-40B4-BE49-F238E27FC236}">
                <a16:creationId xmlns:a16="http://schemas.microsoft.com/office/drawing/2014/main" id="{23FBC714-7A0F-8334-3414-8F8AF468D04B}"/>
              </a:ext>
            </a:extLst>
          </p:cNvPr>
          <p:cNvSpPr/>
          <p:nvPr/>
        </p:nvSpPr>
        <p:spPr>
          <a:xfrm>
            <a:off x="856657" y="2159250"/>
            <a:ext cx="1767106" cy="329184"/>
          </a:xfrm>
          <a:prstGeom prst="roundRect">
            <a:avLst>
              <a:gd name="adj" fmla="val 50000"/>
            </a:avLst>
          </a:prstGeom>
          <a:solidFill>
            <a:srgbClr val="E5F0FF"/>
          </a:solidFill>
          <a:ln w="12700">
            <a:solidFill>
              <a:srgbClr val="E5F0FF"/>
            </a:solidFill>
            <a:prstDash val="solid"/>
          </a:ln>
        </p:spPr>
        <p:txBody>
          <a:bodyPr/>
          <a:lstStyle/>
          <a:p>
            <a:endParaRPr lang="en-US"/>
          </a:p>
        </p:txBody>
      </p:sp>
      <p:sp>
        <p:nvSpPr>
          <p:cNvPr id="21" name="Text 4">
            <a:extLst>
              <a:ext uri="{FF2B5EF4-FFF2-40B4-BE49-F238E27FC236}">
                <a16:creationId xmlns:a16="http://schemas.microsoft.com/office/drawing/2014/main" id="{570A9F60-A7A6-BF78-899F-AE31007D2E16}"/>
              </a:ext>
            </a:extLst>
          </p:cNvPr>
          <p:cNvSpPr txBox="1"/>
          <p:nvPr/>
        </p:nvSpPr>
        <p:spPr>
          <a:xfrm>
            <a:off x="839472" y="2159250"/>
            <a:ext cx="1767105" cy="329184"/>
          </a:xfrm>
          <a:prstGeom prst="rect">
            <a:avLst/>
          </a:prstGeom>
          <a:noFill/>
          <a:ln/>
        </p:spPr>
        <p:txBody>
          <a:bodyPr wrap="square" lIns="0" tIns="0" rIns="0" bIns="0" rtlCol="0" anchor="ctr"/>
          <a:lstStyle/>
          <a:p>
            <a:pPr marL="0" indent="0" algn="ctr">
              <a:buNone/>
            </a:pPr>
            <a:r>
              <a:rPr lang="en-US" sz="1200" b="1" dirty="0">
                <a:solidFill>
                  <a:srgbClr val="0058B8"/>
                </a:solidFill>
                <a:latin typeface="Arial" pitchFamily="34" charset="0"/>
                <a:ea typeface="Arial" pitchFamily="34" charset="-122"/>
                <a:cs typeface="Arial" pitchFamily="34" charset="-120"/>
              </a:rPr>
              <a:t>Baseline, 2D CNN</a:t>
            </a:r>
            <a:endParaRPr lang="en-US" sz="1200" dirty="0"/>
          </a:p>
        </p:txBody>
      </p:sp>
      <p:sp>
        <p:nvSpPr>
          <p:cNvPr id="22" name="Text 5">
            <a:extLst>
              <a:ext uri="{FF2B5EF4-FFF2-40B4-BE49-F238E27FC236}">
                <a16:creationId xmlns:a16="http://schemas.microsoft.com/office/drawing/2014/main" id="{275781FD-ABD7-6AF4-5508-6D8CD331752E}"/>
              </a:ext>
            </a:extLst>
          </p:cNvPr>
          <p:cNvSpPr txBox="1"/>
          <p:nvPr/>
        </p:nvSpPr>
        <p:spPr>
          <a:xfrm>
            <a:off x="929525" y="2711253"/>
            <a:ext cx="2770632" cy="548640"/>
          </a:xfrm>
          <a:prstGeom prst="rect">
            <a:avLst/>
          </a:prstGeom>
          <a:noFill/>
          <a:ln/>
        </p:spPr>
        <p:txBody>
          <a:bodyPr wrap="square" lIns="0" tIns="0" rIns="0" bIns="0" rtlCol="0" anchor="t"/>
          <a:lstStyle/>
          <a:p>
            <a:r>
              <a:rPr lang="en-US" sz="2800" b="1" dirty="0" err="1"/>
              <a:t>pe_ct_cnn</a:t>
            </a:r>
            <a:r>
              <a:rPr lang="en-US" sz="2800" b="1" dirty="0"/>
              <a:t> </a:t>
            </a:r>
          </a:p>
          <a:p>
            <a:pPr marL="0" indent="0">
              <a:buNone/>
            </a:pPr>
            <a:endParaRPr lang="en-US" sz="2600" dirty="0"/>
          </a:p>
        </p:txBody>
      </p:sp>
      <p:sp>
        <p:nvSpPr>
          <p:cNvPr id="23" name="Text 6">
            <a:extLst>
              <a:ext uri="{FF2B5EF4-FFF2-40B4-BE49-F238E27FC236}">
                <a16:creationId xmlns:a16="http://schemas.microsoft.com/office/drawing/2014/main" id="{2C382898-E677-224E-9BCA-64A3E35E8C63}"/>
              </a:ext>
            </a:extLst>
          </p:cNvPr>
          <p:cNvSpPr txBox="1"/>
          <p:nvPr/>
        </p:nvSpPr>
        <p:spPr>
          <a:xfrm>
            <a:off x="856657" y="3439410"/>
            <a:ext cx="2770632" cy="2377440"/>
          </a:xfrm>
          <a:prstGeom prst="rect">
            <a:avLst/>
          </a:prstGeom>
          <a:noFill/>
          <a:ln/>
        </p:spPr>
        <p:txBody>
          <a:bodyPr wrap="square" lIns="0" tIns="0" rIns="0" bIns="0" rtlCol="0" anchor="t"/>
          <a:lstStyle/>
          <a:p>
            <a:pPr>
              <a:spcAft>
                <a:spcPts val="800"/>
              </a:spcAft>
              <a:buSzPct val="100000"/>
            </a:pPr>
            <a:r>
              <a:rPr lang="en-US" sz="1600" dirty="0">
                <a:solidFill>
                  <a:srgbClr val="5E5E63"/>
                </a:solidFill>
              </a:rPr>
              <a:t>A small 4-block CNN (~100k parameters) with no pretraining, trained only on our CT slices.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300" b="1" kern="0" spc="150" dirty="0">
                <a:solidFill>
                  <a:srgbClr val="0058B8"/>
                </a:solidFill>
                <a:latin typeface="Arial" pitchFamily="34" charset="0"/>
                <a:ea typeface="Arial" pitchFamily="34" charset="-122"/>
                <a:cs typeface="Arial" pitchFamily="34" charset="-120"/>
              </a:rPr>
              <a:t>06 · WHY RECALL</a:t>
            </a:r>
            <a:endParaRPr lang="en-US" sz="1300" dirty="0"/>
          </a:p>
        </p:txBody>
      </p:sp>
      <p:sp>
        <p:nvSpPr>
          <p:cNvPr id="3" name="Text 0"/>
          <p:cNvSpPr>
            <a:spLocks noGrp="1"/>
          </p:cNvSpPr>
          <p:nvPr>
            <p:ph type="title" idx="100"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600" b="1" dirty="0">
                <a:solidFill>
                  <a:srgbClr val="1C1C1E"/>
                </a:solidFill>
                <a:latin typeface="Arial" pitchFamily="34" charset="0"/>
                <a:ea typeface="Arial" pitchFamily="34" charset="-122"/>
                <a:cs typeface="Arial" pitchFamily="34" charset="-120"/>
              </a:rPr>
              <a:t>Missing a sick patient costs the most</a:t>
            </a:r>
            <a:endParaRPr lang="en-US" sz="3600" dirty="0"/>
          </a:p>
        </p:txBody>
      </p:sp>
      <p:sp>
        <p:nvSpPr>
          <p:cNvPr id="4" name="miss"/>
          <p:cNvSpPr/>
          <p:nvPr/>
        </p:nvSpPr>
        <p:spPr>
          <a:xfrm>
            <a:off x="548640" y="1828800"/>
            <a:ext cx="5120640" cy="1920240"/>
          </a:xfrm>
          <a:prstGeom prst="roundRect">
            <a:avLst>
              <a:gd name="adj" fmla="val 8571"/>
            </a:avLst>
          </a:prstGeom>
          <a:solidFill>
            <a:srgbClr val="FFE9E7"/>
          </a:solidFill>
          <a:ln w="12700">
            <a:solidFill>
              <a:srgbClr val="FFE9E7"/>
            </a:solidFill>
            <a:prstDash val="solid"/>
          </a:ln>
        </p:spPr>
        <p:txBody>
          <a:bodyPr/>
          <a:lstStyle/>
          <a:p>
            <a:endParaRPr lang="en-US"/>
          </a:p>
        </p:txBody>
      </p:sp>
      <p:sp>
        <p:nvSpPr>
          <p:cNvPr id="5" name="Shape 3"/>
          <p:cNvSpPr/>
          <p:nvPr/>
        </p:nvSpPr>
        <p:spPr>
          <a:xfrm>
            <a:off x="868680" y="2148840"/>
            <a:ext cx="777240" cy="777240"/>
          </a:xfrm>
          <a:prstGeom prst="ellipse">
            <a:avLst/>
          </a:prstGeom>
          <a:solidFill>
            <a:srgbClr val="FFFFFF"/>
          </a:solidFill>
          <a:ln w="12700">
            <a:solidFill>
              <a:srgbClr val="FFFFF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39673" y="2319833"/>
            <a:ext cx="435254" cy="435254"/>
          </a:xfrm>
          <a:prstGeom prst="rect">
            <a:avLst/>
          </a:prstGeom>
        </p:spPr>
      </p:pic>
      <p:sp>
        <p:nvSpPr>
          <p:cNvPr id="7" name="Text 4"/>
          <p:cNvSpPr txBox="1"/>
          <p:nvPr/>
        </p:nvSpPr>
        <p:spPr>
          <a:xfrm>
            <a:off x="1874520" y="2148840"/>
            <a:ext cx="3566160" cy="411480"/>
          </a:xfrm>
          <a:prstGeom prst="rect">
            <a:avLst/>
          </a:prstGeom>
          <a:noFill/>
          <a:ln/>
        </p:spPr>
        <p:txBody>
          <a:bodyPr wrap="square" lIns="0" tIns="0" rIns="0" bIns="0" rtlCol="0" anchor="t"/>
          <a:lstStyle/>
          <a:p>
            <a:pPr marL="0" indent="0">
              <a:buNone/>
            </a:pPr>
            <a:r>
              <a:rPr lang="en-US" sz="2200" b="1" dirty="0">
                <a:solidFill>
                  <a:srgbClr val="C4271E"/>
                </a:solidFill>
                <a:latin typeface="Arial" pitchFamily="34" charset="0"/>
                <a:ea typeface="Arial" pitchFamily="34" charset="-122"/>
                <a:cs typeface="Arial" pitchFamily="34" charset="-120"/>
              </a:rPr>
              <a:t>Missed PE</a:t>
            </a:r>
            <a:endParaRPr lang="en-US" sz="2200" dirty="0"/>
          </a:p>
        </p:txBody>
      </p:sp>
      <p:sp>
        <p:nvSpPr>
          <p:cNvPr id="8" name="Text 5"/>
          <p:cNvSpPr txBox="1"/>
          <p:nvPr/>
        </p:nvSpPr>
        <p:spPr>
          <a:xfrm>
            <a:off x="1874520" y="2606040"/>
            <a:ext cx="3566160" cy="914400"/>
          </a:xfrm>
          <a:prstGeom prst="rect">
            <a:avLst/>
          </a:prstGeom>
          <a:noFill/>
          <a:ln/>
        </p:spPr>
        <p:txBody>
          <a:bodyPr wrap="square" lIns="0" tIns="0" rIns="0" bIns="0" rtlCol="0" anchor="t"/>
          <a:lstStyle/>
          <a:p>
            <a:pPr marL="0" indent="0">
              <a:buNone/>
            </a:pPr>
            <a:r>
              <a:rPr lang="en-US" sz="1600" dirty="0">
                <a:solidFill>
                  <a:srgbClr val="1C1C1E"/>
                </a:solidFill>
                <a:latin typeface="Arial" pitchFamily="34" charset="0"/>
                <a:ea typeface="Arial" pitchFamily="34" charset="-122"/>
                <a:cs typeface="Arial" pitchFamily="34" charset="-120"/>
              </a:rPr>
              <a:t>Can be fatal. This is the error we fight hardest.</a:t>
            </a:r>
            <a:endParaRPr lang="en-US" sz="1600" dirty="0"/>
          </a:p>
        </p:txBody>
      </p:sp>
      <p:sp>
        <p:nvSpPr>
          <p:cNvPr id="9" name="alarm"/>
          <p:cNvSpPr/>
          <p:nvPr/>
        </p:nvSpPr>
        <p:spPr>
          <a:xfrm>
            <a:off x="548640" y="4023360"/>
            <a:ext cx="5120640" cy="1920240"/>
          </a:xfrm>
          <a:prstGeom prst="roundRect">
            <a:avLst>
              <a:gd name="adj" fmla="val 8571"/>
            </a:avLst>
          </a:prstGeom>
          <a:solidFill>
            <a:srgbClr val="E5F0FF"/>
          </a:solidFill>
          <a:ln w="12700">
            <a:solidFill>
              <a:srgbClr val="E5F0FF"/>
            </a:solidFill>
            <a:prstDash val="solid"/>
          </a:ln>
        </p:spPr>
        <p:txBody>
          <a:bodyPr/>
          <a:lstStyle/>
          <a:p>
            <a:endParaRPr lang="en-US"/>
          </a:p>
        </p:txBody>
      </p:sp>
      <p:sp>
        <p:nvSpPr>
          <p:cNvPr id="10" name="Shape 7"/>
          <p:cNvSpPr/>
          <p:nvPr/>
        </p:nvSpPr>
        <p:spPr>
          <a:xfrm>
            <a:off x="868680" y="4343400"/>
            <a:ext cx="777240" cy="777240"/>
          </a:xfrm>
          <a:prstGeom prst="ellipse">
            <a:avLst/>
          </a:prstGeom>
          <a:solidFill>
            <a:srgbClr val="FFFFFF"/>
          </a:solidFill>
          <a:ln w="12700">
            <a:solidFill>
              <a:srgbClr val="FFFFF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1039673" y="4514393"/>
            <a:ext cx="435254" cy="435254"/>
          </a:xfrm>
          <a:prstGeom prst="rect">
            <a:avLst/>
          </a:prstGeom>
        </p:spPr>
      </p:pic>
      <p:sp>
        <p:nvSpPr>
          <p:cNvPr id="12" name="Text 8"/>
          <p:cNvSpPr txBox="1"/>
          <p:nvPr/>
        </p:nvSpPr>
        <p:spPr>
          <a:xfrm>
            <a:off x="1874520" y="4343400"/>
            <a:ext cx="3566160" cy="411480"/>
          </a:xfrm>
          <a:prstGeom prst="rect">
            <a:avLst/>
          </a:prstGeom>
          <a:noFill/>
          <a:ln/>
        </p:spPr>
        <p:txBody>
          <a:bodyPr wrap="square" lIns="0" tIns="0" rIns="0" bIns="0" rtlCol="0" anchor="t"/>
          <a:lstStyle/>
          <a:p>
            <a:pPr marL="0" indent="0">
              <a:buNone/>
            </a:pPr>
            <a:r>
              <a:rPr lang="en-US" sz="2200" b="1" dirty="0">
                <a:solidFill>
                  <a:srgbClr val="0058B8"/>
                </a:solidFill>
                <a:latin typeface="Arial" pitchFamily="34" charset="0"/>
                <a:ea typeface="Arial" pitchFamily="34" charset="-122"/>
                <a:cs typeface="Arial" pitchFamily="34" charset="-120"/>
              </a:rPr>
              <a:t>False alarm</a:t>
            </a:r>
            <a:endParaRPr lang="en-US" sz="2200" dirty="0"/>
          </a:p>
        </p:txBody>
      </p:sp>
      <p:sp>
        <p:nvSpPr>
          <p:cNvPr id="13" name="Text 9"/>
          <p:cNvSpPr txBox="1"/>
          <p:nvPr/>
        </p:nvSpPr>
        <p:spPr>
          <a:xfrm>
            <a:off x="1874520" y="4800600"/>
            <a:ext cx="3566160" cy="914400"/>
          </a:xfrm>
          <a:prstGeom prst="rect">
            <a:avLst/>
          </a:prstGeom>
          <a:noFill/>
          <a:ln/>
        </p:spPr>
        <p:txBody>
          <a:bodyPr wrap="square" lIns="0" tIns="0" rIns="0" bIns="0" rtlCol="0" anchor="t"/>
          <a:lstStyle/>
          <a:p>
            <a:pPr marL="0" indent="0">
              <a:buNone/>
            </a:pPr>
            <a:r>
              <a:rPr lang="en-US" sz="1600" dirty="0">
                <a:solidFill>
                  <a:srgbClr val="1C1C1E"/>
                </a:solidFill>
                <a:latin typeface="Arial" pitchFamily="34" charset="0"/>
                <a:ea typeface="Arial" pitchFamily="34" charset="-122"/>
                <a:cs typeface="Arial" pitchFamily="34" charset="-120"/>
              </a:rPr>
              <a:t>A doctor double-checks the scan. Costs time, not a life.</a:t>
            </a:r>
            <a:endParaRPr lang="en-US" sz="1600" dirty="0"/>
          </a:p>
        </p:txBody>
      </p:sp>
      <p:sp>
        <p:nvSpPr>
          <p:cNvPr id="14" name="how-0"/>
          <p:cNvSpPr/>
          <p:nvPr/>
        </p:nvSpPr>
        <p:spPr>
          <a:xfrm>
            <a:off x="6035040" y="1828800"/>
            <a:ext cx="5577840" cy="1920240"/>
          </a:xfrm>
          <a:prstGeom prst="roundRect">
            <a:avLst>
              <a:gd name="adj" fmla="val 8571"/>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5" name="Shape 11"/>
          <p:cNvSpPr/>
          <p:nvPr/>
        </p:nvSpPr>
        <p:spPr>
          <a:xfrm>
            <a:off x="6355080" y="2148840"/>
            <a:ext cx="777240" cy="777240"/>
          </a:xfrm>
          <a:prstGeom prst="ellipse">
            <a:avLst/>
          </a:prstGeom>
          <a:solidFill>
            <a:srgbClr val="E5F0FF"/>
          </a:solidFill>
          <a:ln w="12700">
            <a:solidFill>
              <a:srgbClr val="E5F0F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526073" y="2319833"/>
            <a:ext cx="435254" cy="435254"/>
          </a:xfrm>
          <a:prstGeom prst="rect">
            <a:avLst/>
          </a:prstGeom>
        </p:spPr>
      </p:pic>
      <p:sp>
        <p:nvSpPr>
          <p:cNvPr id="17" name="Text 12"/>
          <p:cNvSpPr txBox="1"/>
          <p:nvPr/>
        </p:nvSpPr>
        <p:spPr>
          <a:xfrm>
            <a:off x="7360920" y="2148840"/>
            <a:ext cx="4023360" cy="411480"/>
          </a:xfrm>
          <a:prstGeom prst="rect">
            <a:avLst/>
          </a:prstGeom>
          <a:noFill/>
          <a:ln/>
        </p:spPr>
        <p:txBody>
          <a:bodyPr wrap="square" lIns="0" tIns="0" rIns="0" bIns="0" rtlCol="0" anchor="t"/>
          <a:lstStyle/>
          <a:p>
            <a:pPr marL="0" indent="0">
              <a:buNone/>
            </a:pPr>
            <a:r>
              <a:rPr lang="en-US" sz="2000" b="1" dirty="0">
                <a:solidFill>
                  <a:srgbClr val="1C1C1E"/>
                </a:solidFill>
                <a:latin typeface="Arial" pitchFamily="34" charset="0"/>
                <a:ea typeface="Arial" pitchFamily="34" charset="-122"/>
                <a:cs typeface="Arial" pitchFamily="34" charset="-120"/>
              </a:rPr>
              <a:t>Weighted loss</a:t>
            </a:r>
            <a:endParaRPr lang="en-US" sz="2000" dirty="0"/>
          </a:p>
        </p:txBody>
      </p:sp>
      <p:sp>
        <p:nvSpPr>
          <p:cNvPr id="18" name="Text 13"/>
          <p:cNvSpPr txBox="1"/>
          <p:nvPr/>
        </p:nvSpPr>
        <p:spPr>
          <a:xfrm>
            <a:off x="7360920" y="2606040"/>
            <a:ext cx="4023360" cy="105156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Clot slices count about 16.6× more in the loss (pos_weight = negatives ÷ positives), so the rare clot slices aren't drowned out.</a:t>
            </a:r>
            <a:endParaRPr lang="en-US" sz="1500" dirty="0"/>
          </a:p>
        </p:txBody>
      </p:sp>
      <p:sp>
        <p:nvSpPr>
          <p:cNvPr id="19" name="how-1"/>
          <p:cNvSpPr/>
          <p:nvPr/>
        </p:nvSpPr>
        <p:spPr>
          <a:xfrm>
            <a:off x="6035040" y="4023360"/>
            <a:ext cx="5577840" cy="1920240"/>
          </a:xfrm>
          <a:prstGeom prst="roundRect">
            <a:avLst>
              <a:gd name="adj" fmla="val 8571"/>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20" name="Shape 15"/>
          <p:cNvSpPr/>
          <p:nvPr/>
        </p:nvSpPr>
        <p:spPr>
          <a:xfrm>
            <a:off x="6355080" y="4343400"/>
            <a:ext cx="777240" cy="777240"/>
          </a:xfrm>
          <a:prstGeom prst="ellipse">
            <a:avLst/>
          </a:prstGeom>
          <a:solidFill>
            <a:srgbClr val="E5F0FF"/>
          </a:solidFill>
          <a:ln w="12700">
            <a:solidFill>
              <a:srgbClr val="E5F0F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26073" y="4514393"/>
            <a:ext cx="435254" cy="435254"/>
          </a:xfrm>
          <a:prstGeom prst="rect">
            <a:avLst/>
          </a:prstGeom>
        </p:spPr>
      </p:pic>
      <p:sp>
        <p:nvSpPr>
          <p:cNvPr id="22" name="Text 16"/>
          <p:cNvSpPr txBox="1"/>
          <p:nvPr/>
        </p:nvSpPr>
        <p:spPr>
          <a:xfrm>
            <a:off x="7360920" y="4343400"/>
            <a:ext cx="4023360" cy="411480"/>
          </a:xfrm>
          <a:prstGeom prst="rect">
            <a:avLst/>
          </a:prstGeom>
          <a:noFill/>
          <a:ln/>
        </p:spPr>
        <p:txBody>
          <a:bodyPr wrap="square" lIns="0" tIns="0" rIns="0" bIns="0" rtlCol="0" anchor="t"/>
          <a:lstStyle/>
          <a:p>
            <a:pPr marL="0" indent="0">
              <a:buNone/>
            </a:pPr>
            <a:r>
              <a:rPr lang="en-US" sz="2000" b="1" dirty="0">
                <a:solidFill>
                  <a:srgbClr val="1C1C1E"/>
                </a:solidFill>
                <a:latin typeface="Arial" pitchFamily="34" charset="0"/>
                <a:ea typeface="Arial" pitchFamily="34" charset="-122"/>
                <a:cs typeface="Arial" pitchFamily="34" charset="-120"/>
              </a:rPr>
              <a:t>Lower threshold</a:t>
            </a:r>
            <a:endParaRPr lang="en-US" sz="2000" dirty="0"/>
          </a:p>
        </p:txBody>
      </p:sp>
      <p:sp>
        <p:nvSpPr>
          <p:cNvPr id="23" name="Text 17"/>
          <p:cNvSpPr txBox="1"/>
          <p:nvPr/>
        </p:nvSpPr>
        <p:spPr>
          <a:xfrm>
            <a:off x="7360920" y="4800600"/>
            <a:ext cx="4023360" cy="105156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Instead of 0.5, we pick the cutoff on the validation set that catches about 95% of sick patients, then apply it unchanged to test.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300" b="1" kern="0" spc="150" dirty="0">
                <a:solidFill>
                  <a:srgbClr val="0058B8"/>
                </a:solidFill>
                <a:latin typeface="Arial" pitchFamily="34" charset="0"/>
                <a:ea typeface="Arial" pitchFamily="34" charset="-122"/>
                <a:cs typeface="Arial" pitchFamily="34" charset="-120"/>
              </a:rPr>
              <a:t>07 · EVALUATION</a:t>
            </a:r>
            <a:endParaRPr lang="en-US" sz="1300" dirty="0"/>
          </a:p>
        </p:txBody>
      </p:sp>
      <p:sp>
        <p:nvSpPr>
          <p:cNvPr id="3" name="Text 0"/>
          <p:cNvSpPr>
            <a:spLocks noGrp="1"/>
          </p:cNvSpPr>
          <p:nvPr>
            <p:ph type="title" idx="100"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600" b="1" dirty="0">
                <a:solidFill>
                  <a:srgbClr val="1C1C1E"/>
                </a:solidFill>
                <a:latin typeface="Arial" pitchFamily="34" charset="0"/>
                <a:ea typeface="Arial" pitchFamily="34" charset="-122"/>
                <a:cs typeface="Arial" pitchFamily="34" charset="-120"/>
              </a:rPr>
              <a:t>Split by patient, judged on four metrics</a:t>
            </a:r>
            <a:endParaRPr lang="en-US" sz="3600" dirty="0"/>
          </a:p>
        </p:txBody>
      </p:sp>
      <p:sp>
        <p:nvSpPr>
          <p:cNvPr id="4" name="Shape 2"/>
          <p:cNvSpPr/>
          <p:nvPr/>
        </p:nvSpPr>
        <p:spPr>
          <a:xfrm>
            <a:off x="548640" y="1828800"/>
            <a:ext cx="7671816" cy="914400"/>
          </a:xfrm>
          <a:prstGeom prst="roundRect">
            <a:avLst>
              <a:gd name="adj" fmla="val 16000"/>
            </a:avLst>
          </a:prstGeom>
          <a:solidFill>
            <a:srgbClr val="007AFF"/>
          </a:solidFill>
          <a:ln w="12700">
            <a:solidFill>
              <a:srgbClr val="007AFF"/>
            </a:solidFill>
            <a:prstDash val="solid"/>
          </a:ln>
        </p:spPr>
        <p:txBody>
          <a:bodyPr/>
          <a:lstStyle/>
          <a:p>
            <a:endParaRPr lang="en-US"/>
          </a:p>
        </p:txBody>
      </p:sp>
      <p:sp>
        <p:nvSpPr>
          <p:cNvPr id="5" name="Text 3"/>
          <p:cNvSpPr txBox="1"/>
          <p:nvPr/>
        </p:nvSpPr>
        <p:spPr>
          <a:xfrm>
            <a:off x="822960" y="1828800"/>
            <a:ext cx="7306056" cy="9144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Train  ·  1,050 patients</a:t>
            </a:r>
            <a:endParaRPr lang="en-US" sz="1800" dirty="0"/>
          </a:p>
        </p:txBody>
      </p:sp>
      <p:sp>
        <p:nvSpPr>
          <p:cNvPr id="6" name="Shape 4"/>
          <p:cNvSpPr/>
          <p:nvPr/>
        </p:nvSpPr>
        <p:spPr>
          <a:xfrm>
            <a:off x="8293608" y="1828800"/>
            <a:ext cx="1586484" cy="914400"/>
          </a:xfrm>
          <a:prstGeom prst="roundRect">
            <a:avLst>
              <a:gd name="adj" fmla="val 16000"/>
            </a:avLst>
          </a:prstGeom>
          <a:solidFill>
            <a:srgbClr val="5AA9FF"/>
          </a:solidFill>
          <a:ln w="12700">
            <a:solidFill>
              <a:srgbClr val="5AA9FF"/>
            </a:solidFill>
            <a:prstDash val="solid"/>
          </a:ln>
        </p:spPr>
        <p:txBody>
          <a:bodyPr/>
          <a:lstStyle/>
          <a:p>
            <a:endParaRPr lang="en-US"/>
          </a:p>
        </p:txBody>
      </p:sp>
      <p:sp>
        <p:nvSpPr>
          <p:cNvPr id="7" name="Text 5"/>
          <p:cNvSpPr txBox="1"/>
          <p:nvPr/>
        </p:nvSpPr>
        <p:spPr>
          <a:xfrm>
            <a:off x="8567928" y="1828800"/>
            <a:ext cx="1220724" cy="914400"/>
          </a:xfrm>
          <a:prstGeom prst="rect">
            <a:avLst/>
          </a:prstGeom>
          <a:noFill/>
          <a:ln/>
        </p:spPr>
        <p:txBody>
          <a:bodyPr wrap="square" lIns="0" tIns="0" rIns="0" bIns="0" rtlCol="0" anchor="ctr"/>
          <a:lstStyle/>
          <a:p>
            <a:pPr marL="0" indent="0">
              <a:buNone/>
            </a:pPr>
            <a:r>
              <a:rPr lang="en-US" sz="1800" b="1" dirty="0">
                <a:solidFill>
                  <a:srgbClr val="1C1C1E"/>
                </a:solidFill>
                <a:latin typeface="Arial" pitchFamily="34" charset="0"/>
                <a:ea typeface="Arial" pitchFamily="34" charset="-122"/>
                <a:cs typeface="Arial" pitchFamily="34" charset="-120"/>
              </a:rPr>
              <a:t>Val  ·  225</a:t>
            </a:r>
            <a:endParaRPr lang="en-US" sz="1800" dirty="0"/>
          </a:p>
        </p:txBody>
      </p:sp>
      <p:sp>
        <p:nvSpPr>
          <p:cNvPr id="8" name="Shape 6"/>
          <p:cNvSpPr/>
          <p:nvPr/>
        </p:nvSpPr>
        <p:spPr>
          <a:xfrm>
            <a:off x="9953244" y="1828800"/>
            <a:ext cx="1586484" cy="914400"/>
          </a:xfrm>
          <a:prstGeom prst="roundRect">
            <a:avLst>
              <a:gd name="adj" fmla="val 16000"/>
            </a:avLst>
          </a:prstGeom>
          <a:solidFill>
            <a:srgbClr val="E5E5EA"/>
          </a:solidFill>
          <a:ln w="12700">
            <a:solidFill>
              <a:srgbClr val="E5E5EA"/>
            </a:solidFill>
            <a:prstDash val="solid"/>
          </a:ln>
        </p:spPr>
        <p:txBody>
          <a:bodyPr/>
          <a:lstStyle/>
          <a:p>
            <a:endParaRPr lang="en-US"/>
          </a:p>
        </p:txBody>
      </p:sp>
      <p:sp>
        <p:nvSpPr>
          <p:cNvPr id="9" name="Text 7"/>
          <p:cNvSpPr txBox="1"/>
          <p:nvPr/>
        </p:nvSpPr>
        <p:spPr>
          <a:xfrm>
            <a:off x="10227564" y="1828800"/>
            <a:ext cx="1220724" cy="914400"/>
          </a:xfrm>
          <a:prstGeom prst="rect">
            <a:avLst/>
          </a:prstGeom>
          <a:noFill/>
          <a:ln/>
        </p:spPr>
        <p:txBody>
          <a:bodyPr wrap="square" lIns="0" tIns="0" rIns="0" bIns="0" rtlCol="0" anchor="ctr"/>
          <a:lstStyle/>
          <a:p>
            <a:pPr marL="0" indent="0">
              <a:buNone/>
            </a:pPr>
            <a:r>
              <a:rPr lang="en-US" sz="1800" b="1" dirty="0">
                <a:solidFill>
                  <a:srgbClr val="1C1C1E"/>
                </a:solidFill>
                <a:latin typeface="Arial" pitchFamily="34" charset="0"/>
                <a:ea typeface="Arial" pitchFamily="34" charset="-122"/>
                <a:cs typeface="Arial" pitchFamily="34" charset="-120"/>
              </a:rPr>
              <a:t>Test  ·  225</a:t>
            </a:r>
            <a:endParaRPr lang="en-US" sz="1800" dirty="0"/>
          </a:p>
        </p:txBody>
      </p:sp>
      <p:sp>
        <p:nvSpPr>
          <p:cNvPr id="10" name="Text 8"/>
          <p:cNvSpPr txBox="1"/>
          <p:nvPr/>
        </p:nvSpPr>
        <p:spPr>
          <a:xfrm>
            <a:off x="548640" y="2880360"/>
            <a:ext cx="10972800" cy="36576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No patient appears in two sets, and each split keeps the ~32.5% sick ratio.</a:t>
            </a:r>
            <a:endParaRPr lang="en-US" sz="1500" dirty="0"/>
          </a:p>
        </p:txBody>
      </p:sp>
      <p:sp>
        <p:nvSpPr>
          <p:cNvPr id="11" name="metric-0"/>
          <p:cNvSpPr/>
          <p:nvPr/>
        </p:nvSpPr>
        <p:spPr>
          <a:xfrm>
            <a:off x="548640" y="3566160"/>
            <a:ext cx="2606040" cy="237744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2" name="Shape 10"/>
          <p:cNvSpPr/>
          <p:nvPr/>
        </p:nvSpPr>
        <p:spPr>
          <a:xfrm>
            <a:off x="868680" y="3886200"/>
            <a:ext cx="1188720" cy="329184"/>
          </a:xfrm>
          <a:prstGeom prst="roundRect">
            <a:avLst>
              <a:gd name="adj" fmla="val 50000"/>
            </a:avLst>
          </a:prstGeom>
          <a:solidFill>
            <a:srgbClr val="FFE9E7"/>
          </a:solidFill>
          <a:ln w="12700">
            <a:solidFill>
              <a:srgbClr val="FFE9E7"/>
            </a:solidFill>
            <a:prstDash val="solid"/>
          </a:ln>
        </p:spPr>
        <p:txBody>
          <a:bodyPr/>
          <a:lstStyle/>
          <a:p>
            <a:endParaRPr lang="en-US"/>
          </a:p>
        </p:txBody>
      </p:sp>
      <p:sp>
        <p:nvSpPr>
          <p:cNvPr id="13" name="Text 11"/>
          <p:cNvSpPr txBox="1"/>
          <p:nvPr/>
        </p:nvSpPr>
        <p:spPr>
          <a:xfrm>
            <a:off x="868680" y="3886200"/>
            <a:ext cx="1188720" cy="329184"/>
          </a:xfrm>
          <a:prstGeom prst="rect">
            <a:avLst/>
          </a:prstGeom>
          <a:noFill/>
          <a:ln/>
        </p:spPr>
        <p:txBody>
          <a:bodyPr wrap="square" lIns="0" tIns="0" rIns="0" bIns="0" rtlCol="0" anchor="ctr"/>
          <a:lstStyle/>
          <a:p>
            <a:pPr marL="0" indent="0" algn="ctr">
              <a:buNone/>
            </a:pPr>
            <a:r>
              <a:rPr lang="en-US" sz="1200" b="1" dirty="0">
                <a:solidFill>
                  <a:srgbClr val="C4271E"/>
                </a:solidFill>
                <a:latin typeface="Arial" pitchFamily="34" charset="0"/>
                <a:ea typeface="Arial" pitchFamily="34" charset="-122"/>
                <a:cs typeface="Arial" pitchFamily="34" charset="-120"/>
              </a:rPr>
              <a:t>Main goal</a:t>
            </a:r>
            <a:endParaRPr lang="en-US" sz="1200" dirty="0"/>
          </a:p>
        </p:txBody>
      </p:sp>
      <p:sp>
        <p:nvSpPr>
          <p:cNvPr id="14" name="Text 12"/>
          <p:cNvSpPr txBox="1"/>
          <p:nvPr/>
        </p:nvSpPr>
        <p:spPr>
          <a:xfrm>
            <a:off x="868680" y="4389120"/>
            <a:ext cx="1965960" cy="457200"/>
          </a:xfrm>
          <a:prstGeom prst="rect">
            <a:avLst/>
          </a:prstGeom>
          <a:noFill/>
          <a:ln/>
        </p:spPr>
        <p:txBody>
          <a:bodyPr wrap="square" lIns="0" tIns="0" rIns="0" bIns="0" rtlCol="0" anchor="t"/>
          <a:lstStyle/>
          <a:p>
            <a:pPr marL="0" indent="0">
              <a:buNone/>
            </a:pPr>
            <a:r>
              <a:rPr lang="en-US" sz="2200" b="1" dirty="0">
                <a:solidFill>
                  <a:srgbClr val="1C1C1E"/>
                </a:solidFill>
                <a:latin typeface="Arial" pitchFamily="34" charset="0"/>
                <a:ea typeface="Arial" pitchFamily="34" charset="-122"/>
                <a:cs typeface="Arial" pitchFamily="34" charset="-120"/>
              </a:rPr>
              <a:t>Recall</a:t>
            </a:r>
            <a:endParaRPr lang="en-US" sz="2200" dirty="0"/>
          </a:p>
        </p:txBody>
      </p:sp>
      <p:sp>
        <p:nvSpPr>
          <p:cNvPr id="15" name="Text 13"/>
          <p:cNvSpPr txBox="1"/>
          <p:nvPr/>
        </p:nvSpPr>
        <p:spPr>
          <a:xfrm>
            <a:off x="868680" y="4892040"/>
            <a:ext cx="1965960" cy="91440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Of all sick patients, how many we caught</a:t>
            </a:r>
            <a:endParaRPr lang="en-US" sz="1500" dirty="0"/>
          </a:p>
        </p:txBody>
      </p:sp>
      <p:sp>
        <p:nvSpPr>
          <p:cNvPr id="16" name="metric-1"/>
          <p:cNvSpPr/>
          <p:nvPr/>
        </p:nvSpPr>
        <p:spPr>
          <a:xfrm>
            <a:off x="3383280" y="3566160"/>
            <a:ext cx="2606040" cy="237744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7" name="Shape 15"/>
          <p:cNvSpPr/>
          <p:nvPr/>
        </p:nvSpPr>
        <p:spPr>
          <a:xfrm>
            <a:off x="3703320" y="3886200"/>
            <a:ext cx="1188720" cy="329184"/>
          </a:xfrm>
          <a:prstGeom prst="roundRect">
            <a:avLst>
              <a:gd name="adj" fmla="val 50000"/>
            </a:avLst>
          </a:prstGeom>
          <a:solidFill>
            <a:srgbClr val="E5E5EA"/>
          </a:solidFill>
          <a:ln w="12700">
            <a:solidFill>
              <a:srgbClr val="E5E5EA"/>
            </a:solidFill>
            <a:prstDash val="solid"/>
          </a:ln>
        </p:spPr>
        <p:txBody>
          <a:bodyPr/>
          <a:lstStyle/>
          <a:p>
            <a:endParaRPr lang="en-US"/>
          </a:p>
        </p:txBody>
      </p:sp>
      <p:sp>
        <p:nvSpPr>
          <p:cNvPr id="18" name="Text 16"/>
          <p:cNvSpPr txBox="1"/>
          <p:nvPr/>
        </p:nvSpPr>
        <p:spPr>
          <a:xfrm>
            <a:off x="3703320" y="3886200"/>
            <a:ext cx="1188720" cy="329184"/>
          </a:xfrm>
          <a:prstGeom prst="rect">
            <a:avLst/>
          </a:prstGeom>
          <a:noFill/>
          <a:ln/>
        </p:spPr>
        <p:txBody>
          <a:bodyPr wrap="square" lIns="0" tIns="0" rIns="0" bIns="0" rtlCol="0" anchor="ctr"/>
          <a:lstStyle/>
          <a:p>
            <a:pPr marL="0" indent="0" algn="ctr">
              <a:buNone/>
            </a:pPr>
            <a:r>
              <a:rPr lang="en-US" sz="1200" b="1" dirty="0">
                <a:solidFill>
                  <a:srgbClr val="5E5E63"/>
                </a:solidFill>
                <a:latin typeface="Arial" pitchFamily="34" charset="0"/>
                <a:ea typeface="Arial" pitchFamily="34" charset="-122"/>
                <a:cs typeface="Arial" pitchFamily="34" charset="-120"/>
              </a:rPr>
              <a:t>Trust</a:t>
            </a:r>
            <a:endParaRPr lang="en-US" sz="1200" dirty="0"/>
          </a:p>
        </p:txBody>
      </p:sp>
      <p:sp>
        <p:nvSpPr>
          <p:cNvPr id="19" name="Text 17"/>
          <p:cNvSpPr txBox="1"/>
          <p:nvPr/>
        </p:nvSpPr>
        <p:spPr>
          <a:xfrm>
            <a:off x="3703320" y="4389120"/>
            <a:ext cx="1965960" cy="457200"/>
          </a:xfrm>
          <a:prstGeom prst="rect">
            <a:avLst/>
          </a:prstGeom>
          <a:noFill/>
          <a:ln/>
        </p:spPr>
        <p:txBody>
          <a:bodyPr wrap="square" lIns="0" tIns="0" rIns="0" bIns="0" rtlCol="0" anchor="t"/>
          <a:lstStyle/>
          <a:p>
            <a:pPr marL="0" indent="0">
              <a:buNone/>
            </a:pPr>
            <a:r>
              <a:rPr lang="en-US" sz="2200" b="1" dirty="0">
                <a:solidFill>
                  <a:srgbClr val="1C1C1E"/>
                </a:solidFill>
                <a:latin typeface="Arial" pitchFamily="34" charset="0"/>
                <a:ea typeface="Arial" pitchFamily="34" charset="-122"/>
                <a:cs typeface="Arial" pitchFamily="34" charset="-120"/>
              </a:rPr>
              <a:t>Precision</a:t>
            </a:r>
            <a:endParaRPr lang="en-US" sz="2200" dirty="0"/>
          </a:p>
        </p:txBody>
      </p:sp>
      <p:sp>
        <p:nvSpPr>
          <p:cNvPr id="20" name="Text 18"/>
          <p:cNvSpPr txBox="1"/>
          <p:nvPr/>
        </p:nvSpPr>
        <p:spPr>
          <a:xfrm>
            <a:off x="3703320" y="4892040"/>
            <a:ext cx="1965960" cy="91440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Of flagged patients, how many were really sick</a:t>
            </a:r>
            <a:endParaRPr lang="en-US" sz="1500" dirty="0"/>
          </a:p>
        </p:txBody>
      </p:sp>
      <p:sp>
        <p:nvSpPr>
          <p:cNvPr id="21" name="metric-2"/>
          <p:cNvSpPr/>
          <p:nvPr/>
        </p:nvSpPr>
        <p:spPr>
          <a:xfrm>
            <a:off x="6217920" y="3566160"/>
            <a:ext cx="2606040" cy="237744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22" name="Shape 20"/>
          <p:cNvSpPr/>
          <p:nvPr/>
        </p:nvSpPr>
        <p:spPr>
          <a:xfrm>
            <a:off x="6537960" y="3886200"/>
            <a:ext cx="1188720" cy="329184"/>
          </a:xfrm>
          <a:prstGeom prst="roundRect">
            <a:avLst>
              <a:gd name="adj" fmla="val 50000"/>
            </a:avLst>
          </a:prstGeom>
          <a:solidFill>
            <a:srgbClr val="E5E5EA"/>
          </a:solidFill>
          <a:ln w="12700">
            <a:solidFill>
              <a:srgbClr val="E5E5EA"/>
            </a:solidFill>
            <a:prstDash val="solid"/>
          </a:ln>
        </p:spPr>
        <p:txBody>
          <a:bodyPr/>
          <a:lstStyle/>
          <a:p>
            <a:endParaRPr lang="en-US"/>
          </a:p>
        </p:txBody>
      </p:sp>
      <p:sp>
        <p:nvSpPr>
          <p:cNvPr id="23" name="Text 21"/>
          <p:cNvSpPr txBox="1"/>
          <p:nvPr/>
        </p:nvSpPr>
        <p:spPr>
          <a:xfrm>
            <a:off x="6537960" y="3886200"/>
            <a:ext cx="1188720" cy="329184"/>
          </a:xfrm>
          <a:prstGeom prst="rect">
            <a:avLst/>
          </a:prstGeom>
          <a:noFill/>
          <a:ln/>
        </p:spPr>
        <p:txBody>
          <a:bodyPr wrap="square" lIns="0" tIns="0" rIns="0" bIns="0" rtlCol="0" anchor="ctr"/>
          <a:lstStyle/>
          <a:p>
            <a:pPr marL="0" indent="0" algn="ctr">
              <a:buNone/>
            </a:pPr>
            <a:r>
              <a:rPr lang="en-US" sz="1200" b="1" dirty="0">
                <a:solidFill>
                  <a:srgbClr val="5E5E63"/>
                </a:solidFill>
                <a:latin typeface="Arial" pitchFamily="34" charset="0"/>
                <a:ea typeface="Arial" pitchFamily="34" charset="-122"/>
                <a:cs typeface="Arial" pitchFamily="34" charset="-120"/>
              </a:rPr>
              <a:t>Calm</a:t>
            </a:r>
            <a:endParaRPr lang="en-US" sz="1200" dirty="0"/>
          </a:p>
        </p:txBody>
      </p:sp>
      <p:sp>
        <p:nvSpPr>
          <p:cNvPr id="24" name="Text 22"/>
          <p:cNvSpPr txBox="1"/>
          <p:nvPr/>
        </p:nvSpPr>
        <p:spPr>
          <a:xfrm>
            <a:off x="6537960" y="4389120"/>
            <a:ext cx="1965960" cy="457200"/>
          </a:xfrm>
          <a:prstGeom prst="rect">
            <a:avLst/>
          </a:prstGeom>
          <a:noFill/>
          <a:ln/>
        </p:spPr>
        <p:txBody>
          <a:bodyPr wrap="square" lIns="0" tIns="0" rIns="0" bIns="0" rtlCol="0" anchor="t"/>
          <a:lstStyle/>
          <a:p>
            <a:pPr marL="0" indent="0">
              <a:buNone/>
            </a:pPr>
            <a:r>
              <a:rPr lang="en-US" sz="2200" b="1" dirty="0">
                <a:solidFill>
                  <a:srgbClr val="1C1C1E"/>
                </a:solidFill>
                <a:latin typeface="Arial" pitchFamily="34" charset="0"/>
                <a:ea typeface="Arial" pitchFamily="34" charset="-122"/>
                <a:cs typeface="Arial" pitchFamily="34" charset="-120"/>
              </a:rPr>
              <a:t>Specificity</a:t>
            </a:r>
            <a:endParaRPr lang="en-US" sz="2200" dirty="0"/>
          </a:p>
        </p:txBody>
      </p:sp>
      <p:sp>
        <p:nvSpPr>
          <p:cNvPr id="25" name="Text 23"/>
          <p:cNvSpPr txBox="1"/>
          <p:nvPr/>
        </p:nvSpPr>
        <p:spPr>
          <a:xfrm>
            <a:off x="6537960" y="4892040"/>
            <a:ext cx="1965960" cy="91440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Of healthy patients, how many we left alone</a:t>
            </a:r>
            <a:endParaRPr lang="en-US" sz="1500" dirty="0"/>
          </a:p>
        </p:txBody>
      </p:sp>
      <p:sp>
        <p:nvSpPr>
          <p:cNvPr id="26" name="metric-3"/>
          <p:cNvSpPr/>
          <p:nvPr/>
        </p:nvSpPr>
        <p:spPr>
          <a:xfrm>
            <a:off x="9052560" y="3566160"/>
            <a:ext cx="2606040" cy="2377440"/>
          </a:xfrm>
          <a:prstGeom prst="roundRect">
            <a:avLst>
              <a:gd name="adj" fmla="val 6923"/>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27" name="Shape 25"/>
          <p:cNvSpPr/>
          <p:nvPr/>
        </p:nvSpPr>
        <p:spPr>
          <a:xfrm>
            <a:off x="9372600" y="3886200"/>
            <a:ext cx="1188720" cy="329184"/>
          </a:xfrm>
          <a:prstGeom prst="roundRect">
            <a:avLst>
              <a:gd name="adj" fmla="val 50000"/>
            </a:avLst>
          </a:prstGeom>
          <a:solidFill>
            <a:srgbClr val="E5E5EA"/>
          </a:solidFill>
          <a:ln w="12700">
            <a:solidFill>
              <a:srgbClr val="E5E5EA"/>
            </a:solidFill>
            <a:prstDash val="solid"/>
          </a:ln>
        </p:spPr>
        <p:txBody>
          <a:bodyPr/>
          <a:lstStyle/>
          <a:p>
            <a:endParaRPr lang="en-US"/>
          </a:p>
        </p:txBody>
      </p:sp>
      <p:sp>
        <p:nvSpPr>
          <p:cNvPr id="28" name="Text 26"/>
          <p:cNvSpPr txBox="1"/>
          <p:nvPr/>
        </p:nvSpPr>
        <p:spPr>
          <a:xfrm>
            <a:off x="9372600" y="3886200"/>
            <a:ext cx="1188720" cy="329184"/>
          </a:xfrm>
          <a:prstGeom prst="rect">
            <a:avLst/>
          </a:prstGeom>
          <a:noFill/>
          <a:ln/>
        </p:spPr>
        <p:txBody>
          <a:bodyPr wrap="square" lIns="0" tIns="0" rIns="0" bIns="0" rtlCol="0" anchor="ctr"/>
          <a:lstStyle/>
          <a:p>
            <a:pPr marL="0" indent="0" algn="ctr">
              <a:buNone/>
            </a:pPr>
            <a:r>
              <a:rPr lang="en-US" sz="1200" b="1" dirty="0">
                <a:solidFill>
                  <a:srgbClr val="5E5E63"/>
                </a:solidFill>
                <a:latin typeface="Arial" pitchFamily="34" charset="0"/>
                <a:ea typeface="Arial" pitchFamily="34" charset="-122"/>
                <a:cs typeface="Arial" pitchFamily="34" charset="-120"/>
              </a:rPr>
              <a:t>Overall</a:t>
            </a:r>
            <a:endParaRPr lang="en-US" sz="1200" dirty="0"/>
          </a:p>
        </p:txBody>
      </p:sp>
      <p:sp>
        <p:nvSpPr>
          <p:cNvPr id="29" name="Text 27"/>
          <p:cNvSpPr txBox="1"/>
          <p:nvPr/>
        </p:nvSpPr>
        <p:spPr>
          <a:xfrm>
            <a:off x="9372600" y="4389120"/>
            <a:ext cx="1965960" cy="457200"/>
          </a:xfrm>
          <a:prstGeom prst="rect">
            <a:avLst/>
          </a:prstGeom>
          <a:noFill/>
          <a:ln/>
        </p:spPr>
        <p:txBody>
          <a:bodyPr wrap="square" lIns="0" tIns="0" rIns="0" bIns="0" rtlCol="0" anchor="t"/>
          <a:lstStyle/>
          <a:p>
            <a:pPr marL="0" indent="0">
              <a:buNone/>
            </a:pPr>
            <a:r>
              <a:rPr lang="en-US" sz="2200" b="1" dirty="0">
                <a:solidFill>
                  <a:srgbClr val="1C1C1E"/>
                </a:solidFill>
                <a:latin typeface="Arial" pitchFamily="34" charset="0"/>
                <a:ea typeface="Arial" pitchFamily="34" charset="-122"/>
                <a:cs typeface="Arial" pitchFamily="34" charset="-120"/>
              </a:rPr>
              <a:t>AUC</a:t>
            </a:r>
            <a:endParaRPr lang="en-US" sz="2200" dirty="0"/>
          </a:p>
        </p:txBody>
      </p:sp>
      <p:sp>
        <p:nvSpPr>
          <p:cNvPr id="30" name="Text 28"/>
          <p:cNvSpPr txBox="1"/>
          <p:nvPr/>
        </p:nvSpPr>
        <p:spPr>
          <a:xfrm>
            <a:off x="9372600" y="4892040"/>
            <a:ext cx="1965960" cy="91440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How well scores rank sick above healthy</a:t>
            </a:r>
            <a:endParaRPr lang="en-US" sz="15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300" b="1" kern="0" spc="150" dirty="0">
                <a:solidFill>
                  <a:srgbClr val="0058B8"/>
                </a:solidFill>
                <a:latin typeface="Arial" pitchFamily="34" charset="0"/>
                <a:ea typeface="Arial" pitchFamily="34" charset="-122"/>
                <a:cs typeface="Arial" pitchFamily="34" charset="-120"/>
              </a:rPr>
              <a:t>08 · RESULTS</a:t>
            </a:r>
            <a:endParaRPr lang="en-US" sz="1300" dirty="0"/>
          </a:p>
        </p:txBody>
      </p:sp>
      <p:sp>
        <p:nvSpPr>
          <p:cNvPr id="3" name="Text 0"/>
          <p:cNvSpPr>
            <a:spLocks noGrp="1"/>
          </p:cNvSpPr>
          <p:nvPr>
            <p:ph type="title" idx="100"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600" b="1" dirty="0">
                <a:solidFill>
                  <a:srgbClr val="1C1C1E"/>
                </a:solidFill>
                <a:latin typeface="Arial" pitchFamily="34" charset="0"/>
                <a:ea typeface="Arial" pitchFamily="34" charset="-122"/>
                <a:cs typeface="Arial" pitchFamily="34" charset="-120"/>
              </a:rPr>
              <a:t>Test set results</a:t>
            </a:r>
            <a:endParaRPr lang="en-US" sz="3600" dirty="0"/>
          </a:p>
        </p:txBody>
      </p:sp>
      <p:sp>
        <p:nvSpPr>
          <p:cNvPr id="4" name="results-card"/>
          <p:cNvSpPr/>
          <p:nvPr/>
        </p:nvSpPr>
        <p:spPr>
          <a:xfrm>
            <a:off x="548640" y="1828800"/>
            <a:ext cx="7680960" cy="3108960"/>
          </a:xfrm>
          <a:prstGeom prst="roundRect">
            <a:avLst>
              <a:gd name="adj" fmla="val 5294"/>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graphicFrame>
        <p:nvGraphicFramePr>
          <p:cNvPr id="10" name="Table 0"/>
          <p:cNvGraphicFramePr>
            <a:graphicFrameLocks noGrp="1"/>
          </p:cNvGraphicFramePr>
          <p:nvPr>
            <p:extLst>
              <p:ext uri="{D42A27DB-BD31-4B8C-83A1-F6EECF244321}">
                <p14:modId xmlns:p14="http://schemas.microsoft.com/office/powerpoint/2010/main" val="2171751381"/>
              </p:ext>
            </p:extLst>
          </p:nvPr>
        </p:nvGraphicFramePr>
        <p:xfrm>
          <a:off x="777240" y="2057400"/>
          <a:ext cx="7223760" cy="2560320"/>
        </p:xfrm>
        <a:graphic>
          <a:graphicData uri="http://schemas.openxmlformats.org/drawingml/2006/table">
            <a:tbl>
              <a:tblPr/>
              <a:tblGrid>
                <a:gridCol w="21031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640080">
                <a:tc>
                  <a:txBody>
                    <a:bodyPr/>
                    <a:lstStyle/>
                    <a:p>
                      <a:pPr marL="0" indent="0" algn="l">
                        <a:buNone/>
                      </a:pPr>
                      <a:r>
                        <a:rPr lang="en-US" sz="1600" b="1" dirty="0">
                          <a:solidFill>
                            <a:srgbClr val="5E5E63"/>
                          </a:solidFill>
                          <a:latin typeface="Arial" pitchFamily="34" charset="0"/>
                          <a:ea typeface="Arial" pitchFamily="34" charset="-122"/>
                          <a:cs typeface="Arial" pitchFamily="34" charset="-120"/>
                        </a:rPr>
                        <a:t>Model</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E5E5EA"/>
                    </a:solidFill>
                  </a:tcPr>
                </a:tc>
                <a:tc>
                  <a:txBody>
                    <a:bodyPr/>
                    <a:lstStyle/>
                    <a:p>
                      <a:pPr marL="0" indent="0" algn="ctr">
                        <a:buNone/>
                      </a:pPr>
                      <a:r>
                        <a:rPr lang="en-US" sz="1600" b="1" dirty="0">
                          <a:solidFill>
                            <a:srgbClr val="5E5E63"/>
                          </a:solidFill>
                          <a:latin typeface="Arial" pitchFamily="34" charset="0"/>
                          <a:ea typeface="Arial" pitchFamily="34" charset="-122"/>
                          <a:cs typeface="Arial" pitchFamily="34" charset="-120"/>
                        </a:rPr>
                        <a:t>Recall</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E5E5EA"/>
                    </a:solidFill>
                  </a:tcPr>
                </a:tc>
                <a:tc>
                  <a:txBody>
                    <a:bodyPr/>
                    <a:lstStyle/>
                    <a:p>
                      <a:pPr marL="0" indent="0" algn="ctr">
                        <a:buNone/>
                      </a:pPr>
                      <a:r>
                        <a:rPr lang="en-US" sz="1600" b="1" dirty="0">
                          <a:solidFill>
                            <a:srgbClr val="5E5E63"/>
                          </a:solidFill>
                          <a:latin typeface="Arial" pitchFamily="34" charset="0"/>
                          <a:ea typeface="Arial" pitchFamily="34" charset="-122"/>
                          <a:cs typeface="Arial" pitchFamily="34" charset="-120"/>
                        </a:rPr>
                        <a:t>Precision</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E5E5EA"/>
                    </a:solidFill>
                  </a:tcPr>
                </a:tc>
                <a:tc>
                  <a:txBody>
                    <a:bodyPr/>
                    <a:lstStyle/>
                    <a:p>
                      <a:pPr marL="0" indent="0" algn="ctr">
                        <a:buNone/>
                      </a:pPr>
                      <a:r>
                        <a:rPr lang="en-US" sz="1600" b="1" dirty="0">
                          <a:solidFill>
                            <a:srgbClr val="5E5E63"/>
                          </a:solidFill>
                          <a:latin typeface="Arial" pitchFamily="34" charset="0"/>
                          <a:ea typeface="Arial" pitchFamily="34" charset="-122"/>
                          <a:cs typeface="Arial" pitchFamily="34" charset="-120"/>
                        </a:rPr>
                        <a:t>F1</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E5E5EA"/>
                    </a:solidFill>
                  </a:tcPr>
                </a:tc>
                <a:tc>
                  <a:txBody>
                    <a:bodyPr/>
                    <a:lstStyle/>
                    <a:p>
                      <a:pPr marL="0" indent="0" algn="ctr">
                        <a:buNone/>
                      </a:pPr>
                      <a:r>
                        <a:rPr lang="en-US" sz="1600" b="1" dirty="0">
                          <a:solidFill>
                            <a:srgbClr val="5E5E63"/>
                          </a:solidFill>
                          <a:latin typeface="Arial" pitchFamily="34" charset="0"/>
                          <a:ea typeface="Arial" pitchFamily="34" charset="-122"/>
                          <a:cs typeface="Arial" pitchFamily="34" charset="-120"/>
                        </a:rPr>
                        <a:t>AUC</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E5E5EA"/>
                    </a:solidFill>
                  </a:tcPr>
                </a:tc>
                <a:extLst>
                  <a:ext uri="{0D108BD9-81ED-4DB2-BD59-A6C34878D82A}">
                    <a16:rowId xmlns:a16="http://schemas.microsoft.com/office/drawing/2014/main" val="10000"/>
                  </a:ext>
                </a:extLst>
              </a:tr>
              <a:tr h="640080">
                <a:tc>
                  <a:txBody>
                    <a:bodyPr/>
                    <a:lstStyle/>
                    <a:p>
                      <a:r>
                        <a:rPr lang="en-US" sz="1800" b="1" i="0" kern="1200" dirty="0" err="1">
                          <a:solidFill>
                            <a:schemeClr val="tx1"/>
                          </a:solidFill>
                          <a:effectLst/>
                          <a:latin typeface="+mn-lt"/>
                          <a:ea typeface="+mn-ea"/>
                          <a:cs typeface="+mn-cs"/>
                        </a:rPr>
                        <a:t>pe_ct_cnn</a:t>
                      </a:r>
                      <a:r>
                        <a:rPr lang="en-US" sz="1800" b="1" i="0" kern="1200" dirty="0">
                          <a:solidFill>
                            <a:schemeClr val="tx1"/>
                          </a:solidFill>
                          <a:effectLst/>
                          <a:latin typeface="+mn-lt"/>
                          <a:ea typeface="+mn-ea"/>
                          <a:cs typeface="+mn-cs"/>
                        </a:rPr>
                        <a:t> </a:t>
                      </a: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800" b="0" i="0" kern="1200" dirty="0">
                          <a:solidFill>
                            <a:schemeClr val="tx1"/>
                          </a:solidFill>
                          <a:effectLst/>
                          <a:latin typeface="+mn-lt"/>
                          <a:ea typeface="+mn-ea"/>
                          <a:cs typeface="+mn-cs"/>
                        </a:rPr>
                        <a:t>0.90 </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800" b="0" i="0" kern="1200" dirty="0">
                          <a:solidFill>
                            <a:schemeClr val="tx1"/>
                          </a:solidFill>
                          <a:effectLst/>
                          <a:latin typeface="+mn-lt"/>
                          <a:ea typeface="+mn-ea"/>
                          <a:cs typeface="+mn-cs"/>
                        </a:rPr>
                        <a:t>0.33</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600" dirty="0">
                          <a:solidFill>
                            <a:srgbClr val="1C1C1E"/>
                          </a:solidFill>
                          <a:latin typeface="Arial" pitchFamily="34" charset="0"/>
                          <a:ea typeface="Arial" pitchFamily="34" charset="-122"/>
                          <a:cs typeface="Arial" pitchFamily="34" charset="-120"/>
                        </a:rPr>
                        <a:t>0.48</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800" b="0" i="0" kern="1200" dirty="0">
                          <a:solidFill>
                            <a:schemeClr val="tx1"/>
                          </a:solidFill>
                          <a:effectLst/>
                          <a:latin typeface="+mn-lt"/>
                          <a:ea typeface="+mn-ea"/>
                          <a:cs typeface="+mn-cs"/>
                        </a:rPr>
                        <a:t>0.590</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extLst>
                  <a:ext uri="{0D108BD9-81ED-4DB2-BD59-A6C34878D82A}">
                    <a16:rowId xmlns:a16="http://schemas.microsoft.com/office/drawing/2014/main" val="877086576"/>
                  </a:ext>
                </a:extLst>
              </a:tr>
              <a:tr h="640080">
                <a:tc>
                  <a:txBody>
                    <a:bodyPr/>
                    <a:lstStyle/>
                    <a:p>
                      <a:pPr marL="0" indent="0">
                        <a:buNone/>
                      </a:pPr>
                      <a:r>
                        <a:rPr lang="en-US" sz="1600" b="1" dirty="0">
                          <a:solidFill>
                            <a:srgbClr val="1C1C1E"/>
                          </a:solidFill>
                          <a:latin typeface="Arial" pitchFamily="34" charset="0"/>
                          <a:ea typeface="Arial" pitchFamily="34" charset="-122"/>
                          <a:cs typeface="Arial" pitchFamily="34" charset="-120"/>
                        </a:rPr>
                        <a:t>ResNet18</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800" b="0" i="0" kern="1200" dirty="0">
                          <a:solidFill>
                            <a:schemeClr val="tx1"/>
                          </a:solidFill>
                          <a:effectLst/>
                          <a:latin typeface="+mn-lt"/>
                          <a:ea typeface="+mn-ea"/>
                          <a:cs typeface="+mn-cs"/>
                        </a:rPr>
                        <a:t>0.90 </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800" b="0" i="0" kern="1200" dirty="0">
                          <a:solidFill>
                            <a:schemeClr val="tx1"/>
                          </a:solidFill>
                          <a:effectLst/>
                          <a:latin typeface="+mn-lt"/>
                          <a:ea typeface="+mn-ea"/>
                          <a:cs typeface="+mn-cs"/>
                        </a:rPr>
                        <a:t>0.34 </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800" b="0" i="0" kern="1200" dirty="0">
                          <a:solidFill>
                            <a:schemeClr val="tx1"/>
                          </a:solidFill>
                          <a:effectLst/>
                          <a:latin typeface="+mn-lt"/>
                          <a:ea typeface="+mn-ea"/>
                          <a:cs typeface="+mn-cs"/>
                        </a:rPr>
                        <a:t>0.50</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800" b="0" i="0" kern="1200" dirty="0">
                          <a:solidFill>
                            <a:schemeClr val="tx1"/>
                          </a:solidFill>
                          <a:effectLst/>
                          <a:latin typeface="+mn-lt"/>
                          <a:ea typeface="+mn-ea"/>
                          <a:cs typeface="+mn-cs"/>
                        </a:rPr>
                        <a:t>0.705</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600" b="1" dirty="0">
                          <a:solidFill>
                            <a:srgbClr val="1C1C1E"/>
                          </a:solidFill>
                          <a:latin typeface="Arial" pitchFamily="34" charset="0"/>
                          <a:ea typeface="Arial" pitchFamily="34" charset="-122"/>
                          <a:cs typeface="Arial" pitchFamily="34" charset="-120"/>
                        </a:rPr>
                        <a:t>EfficientNet-B0</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800" b="0" i="0" kern="1200" dirty="0">
                          <a:solidFill>
                            <a:schemeClr val="tx1"/>
                          </a:solidFill>
                          <a:effectLst/>
                          <a:latin typeface="+mn-lt"/>
                          <a:ea typeface="+mn-ea"/>
                          <a:cs typeface="+mn-cs"/>
                        </a:rPr>
                        <a:t>0.91</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800" b="0" i="0" kern="1200" dirty="0">
                          <a:solidFill>
                            <a:schemeClr val="tx1"/>
                          </a:solidFill>
                          <a:effectLst/>
                          <a:latin typeface="+mn-lt"/>
                          <a:ea typeface="+mn-ea"/>
                          <a:cs typeface="+mn-cs"/>
                        </a:rPr>
                        <a:t>0.37 </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800" b="0" i="0" kern="1200" dirty="0">
                          <a:solidFill>
                            <a:schemeClr val="tx1"/>
                          </a:solidFill>
                          <a:effectLst/>
                          <a:latin typeface="+mn-lt"/>
                          <a:ea typeface="+mn-ea"/>
                          <a:cs typeface="+mn-cs"/>
                        </a:rPr>
                        <a:t>0.53</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tc>
                  <a:txBody>
                    <a:bodyPr/>
                    <a:lstStyle/>
                    <a:p>
                      <a:pPr marL="0" indent="0" algn="ctr">
                        <a:buNone/>
                      </a:pPr>
                      <a:r>
                        <a:rPr lang="en-US" sz="1800" b="0" i="0" kern="1200" dirty="0">
                          <a:solidFill>
                            <a:schemeClr val="tx1"/>
                          </a:solidFill>
                          <a:effectLst/>
                          <a:latin typeface="+mn-lt"/>
                          <a:ea typeface="+mn-ea"/>
                          <a:cs typeface="+mn-cs"/>
                        </a:rPr>
                        <a:t>0.729</a:t>
                      </a:r>
                      <a:endParaRPr lang="en-US" sz="1600" dirty="0">
                        <a:latin typeface="Arial" charset="0"/>
                        <a:ea typeface="Arial" charset="0"/>
                        <a:cs typeface="Arial" charset="0"/>
                      </a:endParaRPr>
                    </a:p>
                  </a:txBody>
                  <a:tcPr marT="91440" marB="91440" anchor="ctr">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best"/>
          <p:cNvSpPr/>
          <p:nvPr/>
        </p:nvSpPr>
        <p:spPr>
          <a:xfrm>
            <a:off x="8595360" y="1828800"/>
            <a:ext cx="3017520" cy="3108960"/>
          </a:xfrm>
          <a:prstGeom prst="roundRect">
            <a:avLst>
              <a:gd name="adj" fmla="val 5455"/>
            </a:avLst>
          </a:prstGeom>
          <a:solidFill>
            <a:srgbClr val="E5F0FF"/>
          </a:solidFill>
          <a:ln w="12700">
            <a:solidFill>
              <a:srgbClr val="E5F0FF"/>
            </a:solidFill>
            <a:prstDash val="solid"/>
          </a:ln>
        </p:spPr>
        <p:txBody>
          <a:bodyPr/>
          <a:lstStyle/>
          <a:p>
            <a:endParaRPr lang="en-US"/>
          </a:p>
        </p:txBody>
      </p:sp>
      <p:sp>
        <p:nvSpPr>
          <p:cNvPr id="7" name="Text 4"/>
          <p:cNvSpPr txBox="1"/>
          <p:nvPr/>
        </p:nvSpPr>
        <p:spPr>
          <a:xfrm>
            <a:off x="8915400" y="2148840"/>
            <a:ext cx="2377440" cy="365760"/>
          </a:xfrm>
          <a:prstGeom prst="rect">
            <a:avLst/>
          </a:prstGeom>
          <a:noFill/>
          <a:ln/>
        </p:spPr>
        <p:txBody>
          <a:bodyPr wrap="square" lIns="0" tIns="0" rIns="0" bIns="0" rtlCol="0" anchor="t"/>
          <a:lstStyle/>
          <a:p>
            <a:pPr marL="0" indent="0">
              <a:buNone/>
            </a:pPr>
            <a:r>
              <a:rPr lang="en-US" sz="1600" b="1" dirty="0">
                <a:solidFill>
                  <a:srgbClr val="0058B8"/>
                </a:solidFill>
                <a:latin typeface="Arial" pitchFamily="34" charset="0"/>
                <a:ea typeface="Arial" pitchFamily="34" charset="-122"/>
                <a:cs typeface="Arial" pitchFamily="34" charset="-120"/>
              </a:rPr>
              <a:t>Best AUC</a:t>
            </a:r>
            <a:endParaRPr lang="en-US" sz="1600" dirty="0"/>
          </a:p>
        </p:txBody>
      </p:sp>
      <p:sp>
        <p:nvSpPr>
          <p:cNvPr id="8" name="Text 5"/>
          <p:cNvSpPr txBox="1"/>
          <p:nvPr/>
        </p:nvSpPr>
        <p:spPr>
          <a:xfrm>
            <a:off x="8915400" y="2606040"/>
            <a:ext cx="2377440" cy="1005840"/>
          </a:xfrm>
          <a:prstGeom prst="rect">
            <a:avLst/>
          </a:prstGeom>
          <a:noFill/>
          <a:ln/>
        </p:spPr>
        <p:txBody>
          <a:bodyPr wrap="square" lIns="0" tIns="0" rIns="0" bIns="0" rtlCol="0" anchor="t"/>
          <a:lstStyle/>
          <a:p>
            <a:r>
              <a:rPr lang="en-US" sz="5400" dirty="0"/>
              <a:t>72.9 %</a:t>
            </a:r>
          </a:p>
        </p:txBody>
      </p:sp>
      <p:sp>
        <p:nvSpPr>
          <p:cNvPr id="9" name="Text 6"/>
          <p:cNvSpPr txBox="1"/>
          <p:nvPr/>
        </p:nvSpPr>
        <p:spPr>
          <a:xfrm>
            <a:off x="8915400" y="3657600"/>
            <a:ext cx="2377440" cy="1005840"/>
          </a:xfrm>
          <a:prstGeom prst="rect">
            <a:avLst/>
          </a:prstGeom>
          <a:noFill/>
          <a:ln/>
        </p:spPr>
        <p:txBody>
          <a:bodyPr wrap="square" lIns="0" tIns="0" rIns="0" bIns="0" rtlCol="0" anchor="t"/>
          <a:lstStyle/>
          <a:p>
            <a:r>
              <a:rPr lang="en-US" sz="1400" b="1" dirty="0">
                <a:solidFill>
                  <a:srgbClr val="1C1C1E"/>
                </a:solidFill>
                <a:latin typeface="Arial" pitchFamily="34" charset="0"/>
                <a:ea typeface="Arial" pitchFamily="34" charset="-122"/>
                <a:cs typeface="Arial" pitchFamily="34" charset="-120"/>
              </a:rPr>
              <a:t>EfficientNet-B0</a:t>
            </a:r>
            <a:endParaRPr lang="en-US" sz="1400" dirty="0">
              <a:latin typeface="Arial" charset="0"/>
              <a:ea typeface="Arial" charset="0"/>
              <a:cs typeface="Arial" charset="0"/>
            </a:endParaRPr>
          </a:p>
        </p:txBody>
      </p:sp>
      <p:sp>
        <p:nvSpPr>
          <p:cNvPr id="5" name="Text 7"/>
          <p:cNvSpPr txBox="1"/>
          <p:nvPr/>
        </p:nvSpPr>
        <p:spPr>
          <a:xfrm>
            <a:off x="548640" y="5263055"/>
            <a:ext cx="10972800" cy="365760"/>
          </a:xfrm>
          <a:prstGeom prst="rect">
            <a:avLst/>
          </a:prstGeom>
          <a:noFill/>
          <a:ln/>
        </p:spPr>
        <p:txBody>
          <a:bodyPr wrap="square" lIns="0" tIns="0" rIns="0" bIns="0" rtlCol="0" anchor="t"/>
          <a:lstStyle/>
          <a:p>
            <a:pPr marL="0" indent="0">
              <a:buNone/>
            </a:pPr>
            <a:r>
              <a:rPr lang="en-US" sz="1500" dirty="0">
                <a:solidFill>
                  <a:srgbClr val="5E5E63"/>
                </a:solidFill>
                <a:latin typeface="Arial" pitchFamily="34" charset="0"/>
                <a:ea typeface="Arial" pitchFamily="34" charset="-122"/>
                <a:cs typeface="Arial" pitchFamily="34" charset="-120"/>
              </a:rPr>
              <a:t>Recall-tuned threshold chosen on validation, applied once to the 225 test patients.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300" b="1" kern="0" spc="150" dirty="0">
                <a:solidFill>
                  <a:srgbClr val="0058B8"/>
                </a:solidFill>
                <a:latin typeface="Arial" pitchFamily="34" charset="0"/>
                <a:ea typeface="Arial" pitchFamily="34" charset="-122"/>
                <a:cs typeface="Arial" pitchFamily="34" charset="-120"/>
              </a:rPr>
              <a:t>09 · DEPLOYMENT</a:t>
            </a:r>
            <a:endParaRPr lang="en-US" sz="1300" dirty="0"/>
          </a:p>
        </p:txBody>
      </p:sp>
      <p:sp>
        <p:nvSpPr>
          <p:cNvPr id="3" name="Text 0"/>
          <p:cNvSpPr>
            <a:spLocks noGrp="1"/>
          </p:cNvSpPr>
          <p:nvPr>
            <p:ph type="title" idx="100"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600" b="1" dirty="0">
                <a:solidFill>
                  <a:srgbClr val="1C1C1E"/>
                </a:solidFill>
                <a:latin typeface="Arial" pitchFamily="34" charset="0"/>
                <a:ea typeface="Arial" pitchFamily="34" charset="-122"/>
                <a:cs typeface="Arial" pitchFamily="34" charset="-120"/>
              </a:rPr>
              <a:t>Try it live with Gradio</a:t>
            </a:r>
            <a:endParaRPr lang="en-US" sz="3600" dirty="0"/>
          </a:p>
        </p:txBody>
      </p:sp>
      <p:sp>
        <p:nvSpPr>
          <p:cNvPr id="4" name="phone-0"/>
          <p:cNvSpPr/>
          <p:nvPr/>
        </p:nvSpPr>
        <p:spPr>
          <a:xfrm>
            <a:off x="822960" y="1737360"/>
            <a:ext cx="2834640" cy="4389120"/>
          </a:xfrm>
          <a:prstGeom prst="roundRect">
            <a:avLst>
              <a:gd name="adj" fmla="val 14516"/>
            </a:avLst>
          </a:prstGeom>
          <a:solidFill>
            <a:srgbClr val="FFFFFF"/>
          </a:solidFill>
          <a:ln w="38100">
            <a:solidFill>
              <a:srgbClr val="1C1C1E"/>
            </a:solidFill>
            <a:prstDash val="solid"/>
          </a:ln>
          <a:effectLst>
            <a:outerShdw blurRad="127000" dist="25400" dir="5400000" algn="bl" rotWithShape="0">
              <a:srgbClr val="000000">
                <a:alpha val="8000"/>
              </a:srgbClr>
            </a:outerShdw>
          </a:effectLst>
        </p:spPr>
        <p:txBody>
          <a:bodyPr/>
          <a:lstStyle/>
          <a:p>
            <a:endParaRPr lang="en-US"/>
          </a:p>
        </p:txBody>
      </p:sp>
      <p:sp>
        <p:nvSpPr>
          <p:cNvPr id="5" name="Shape 3"/>
          <p:cNvSpPr/>
          <p:nvPr/>
        </p:nvSpPr>
        <p:spPr>
          <a:xfrm>
            <a:off x="1783080" y="1901952"/>
            <a:ext cx="914400" cy="146304"/>
          </a:xfrm>
          <a:prstGeom prst="roundRect">
            <a:avLst>
              <a:gd name="adj" fmla="val 50000"/>
            </a:avLst>
          </a:prstGeom>
          <a:solidFill>
            <a:srgbClr val="1C1C1E"/>
          </a:solidFill>
          <a:ln w="12700">
            <a:solidFill>
              <a:srgbClr val="1C1C1E"/>
            </a:solidFill>
            <a:prstDash val="solid"/>
          </a:ln>
        </p:spPr>
        <p:txBody>
          <a:bodyPr/>
          <a:lstStyle/>
          <a:p>
            <a:endParaRPr lang="en-US"/>
          </a:p>
        </p:txBody>
      </p:sp>
      <p:sp>
        <p:nvSpPr>
          <p:cNvPr id="6" name="Shape 4"/>
          <p:cNvSpPr/>
          <p:nvPr/>
        </p:nvSpPr>
        <p:spPr>
          <a:xfrm>
            <a:off x="1691640" y="2651760"/>
            <a:ext cx="1097280" cy="1097280"/>
          </a:xfrm>
          <a:prstGeom prst="ellipse">
            <a:avLst/>
          </a:prstGeom>
          <a:solidFill>
            <a:srgbClr val="E5F0FF"/>
          </a:solidFill>
          <a:ln w="12700">
            <a:solidFill>
              <a:srgbClr val="E5F0F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933042" y="2893162"/>
            <a:ext cx="614477" cy="614477"/>
          </a:xfrm>
          <a:prstGeom prst="rect">
            <a:avLst/>
          </a:prstGeom>
        </p:spPr>
      </p:pic>
      <p:sp>
        <p:nvSpPr>
          <p:cNvPr id="8" name="Text 5"/>
          <p:cNvSpPr txBox="1"/>
          <p:nvPr/>
        </p:nvSpPr>
        <p:spPr>
          <a:xfrm>
            <a:off x="1097280" y="4023360"/>
            <a:ext cx="2286000" cy="457200"/>
          </a:xfrm>
          <a:prstGeom prst="rect">
            <a:avLst/>
          </a:prstGeom>
          <a:noFill/>
          <a:ln/>
        </p:spPr>
        <p:txBody>
          <a:bodyPr wrap="square" lIns="0" tIns="0" rIns="0" bIns="0" rtlCol="0" anchor="t"/>
          <a:lstStyle/>
          <a:p>
            <a:pPr marL="0" indent="0" algn="ctr">
              <a:buNone/>
            </a:pPr>
            <a:r>
              <a:rPr lang="en-US" sz="1900" b="1" dirty="0">
                <a:solidFill>
                  <a:srgbClr val="1C1C1E"/>
                </a:solidFill>
                <a:latin typeface="Arial" pitchFamily="34" charset="0"/>
                <a:ea typeface="Arial" pitchFamily="34" charset="-122"/>
                <a:cs typeface="Arial" pitchFamily="34" charset="-120"/>
              </a:rPr>
              <a:t>Upload an image</a:t>
            </a:r>
            <a:endParaRPr lang="en-US" sz="1900" dirty="0"/>
          </a:p>
        </p:txBody>
      </p:sp>
      <p:sp>
        <p:nvSpPr>
          <p:cNvPr id="9" name="Text 6"/>
          <p:cNvSpPr txBox="1"/>
          <p:nvPr/>
        </p:nvSpPr>
        <p:spPr>
          <a:xfrm>
            <a:off x="1097280" y="4572000"/>
            <a:ext cx="2286000" cy="914400"/>
          </a:xfrm>
          <a:prstGeom prst="rect">
            <a:avLst/>
          </a:prstGeom>
          <a:noFill/>
          <a:ln/>
        </p:spPr>
        <p:txBody>
          <a:bodyPr wrap="square" lIns="0" tIns="0" rIns="0" bIns="0" rtlCol="0" anchor="t"/>
          <a:lstStyle/>
          <a:p>
            <a:pPr marL="0" indent="0" algn="ctr">
              <a:buNone/>
            </a:pPr>
            <a:r>
              <a:rPr lang="en-US" sz="1400" dirty="0">
                <a:solidFill>
                  <a:srgbClr val="5E5E63"/>
                </a:solidFill>
                <a:latin typeface="Arial" pitchFamily="34" charset="0"/>
                <a:ea typeface="Arial" pitchFamily="34" charset="-122"/>
                <a:cs typeface="Arial" pitchFamily="34" charset="-120"/>
              </a:rPr>
              <a:t>Pick a CT image, get a PE score and a flag</a:t>
            </a:r>
            <a:endParaRPr lang="en-US" sz="1400" dirty="0"/>
          </a:p>
        </p:txBody>
      </p:sp>
      <p:sp>
        <p:nvSpPr>
          <p:cNvPr id="10" name="phone-1"/>
          <p:cNvSpPr/>
          <p:nvPr/>
        </p:nvSpPr>
        <p:spPr>
          <a:xfrm>
            <a:off x="4114800" y="1737360"/>
            <a:ext cx="2834640" cy="4389120"/>
          </a:xfrm>
          <a:prstGeom prst="roundRect">
            <a:avLst>
              <a:gd name="adj" fmla="val 14516"/>
            </a:avLst>
          </a:prstGeom>
          <a:solidFill>
            <a:srgbClr val="FFFFFF"/>
          </a:solidFill>
          <a:ln w="38100">
            <a:solidFill>
              <a:srgbClr val="1C1C1E"/>
            </a:solidFill>
            <a:prstDash val="solid"/>
          </a:ln>
          <a:effectLst>
            <a:outerShdw blurRad="127000" dist="25400" dir="5400000" algn="bl" rotWithShape="0">
              <a:srgbClr val="000000">
                <a:alpha val="8000"/>
              </a:srgbClr>
            </a:outerShdw>
          </a:effectLst>
        </p:spPr>
        <p:txBody>
          <a:bodyPr/>
          <a:lstStyle/>
          <a:p>
            <a:endParaRPr lang="en-US"/>
          </a:p>
        </p:txBody>
      </p:sp>
      <p:sp>
        <p:nvSpPr>
          <p:cNvPr id="11" name="Shape 8"/>
          <p:cNvSpPr/>
          <p:nvPr/>
        </p:nvSpPr>
        <p:spPr>
          <a:xfrm>
            <a:off x="5074920" y="1901952"/>
            <a:ext cx="914400" cy="146304"/>
          </a:xfrm>
          <a:prstGeom prst="roundRect">
            <a:avLst>
              <a:gd name="adj" fmla="val 50000"/>
            </a:avLst>
          </a:prstGeom>
          <a:solidFill>
            <a:srgbClr val="1C1C1E"/>
          </a:solidFill>
          <a:ln w="12700">
            <a:solidFill>
              <a:srgbClr val="1C1C1E"/>
            </a:solidFill>
            <a:prstDash val="solid"/>
          </a:ln>
        </p:spPr>
        <p:txBody>
          <a:bodyPr/>
          <a:lstStyle/>
          <a:p>
            <a:endParaRPr lang="en-US"/>
          </a:p>
        </p:txBody>
      </p:sp>
      <p:sp>
        <p:nvSpPr>
          <p:cNvPr id="12" name="Shape 9"/>
          <p:cNvSpPr/>
          <p:nvPr/>
        </p:nvSpPr>
        <p:spPr>
          <a:xfrm>
            <a:off x="4983480" y="2651760"/>
            <a:ext cx="1097280" cy="1097280"/>
          </a:xfrm>
          <a:prstGeom prst="ellipse">
            <a:avLst/>
          </a:prstGeom>
          <a:solidFill>
            <a:srgbClr val="E5F0FF"/>
          </a:solidFill>
          <a:ln w="12700">
            <a:solidFill>
              <a:srgbClr val="E5F0FF"/>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5224882" y="2893162"/>
            <a:ext cx="614477" cy="614477"/>
          </a:xfrm>
          <a:prstGeom prst="rect">
            <a:avLst/>
          </a:prstGeom>
        </p:spPr>
      </p:pic>
      <p:sp>
        <p:nvSpPr>
          <p:cNvPr id="14" name="Text 10"/>
          <p:cNvSpPr txBox="1"/>
          <p:nvPr/>
        </p:nvSpPr>
        <p:spPr>
          <a:xfrm>
            <a:off x="4389120" y="4023360"/>
            <a:ext cx="2286000" cy="457200"/>
          </a:xfrm>
          <a:prstGeom prst="rect">
            <a:avLst/>
          </a:prstGeom>
          <a:noFill/>
          <a:ln/>
        </p:spPr>
        <p:txBody>
          <a:bodyPr wrap="square" lIns="0" tIns="0" rIns="0" bIns="0" rtlCol="0" anchor="t"/>
          <a:lstStyle/>
          <a:p>
            <a:pPr marL="0" indent="0" algn="ctr">
              <a:buNone/>
            </a:pPr>
            <a:r>
              <a:rPr lang="en-US" sz="1900" b="1" dirty="0">
                <a:solidFill>
                  <a:srgbClr val="1C1C1E"/>
                </a:solidFill>
                <a:latin typeface="Arial" pitchFamily="34" charset="0"/>
                <a:ea typeface="Arial" pitchFamily="34" charset="-122"/>
                <a:cs typeface="Arial" pitchFamily="34" charset="-120"/>
              </a:rPr>
              <a:t>Use the camera</a:t>
            </a:r>
            <a:endParaRPr lang="en-US" sz="1900" dirty="0"/>
          </a:p>
        </p:txBody>
      </p:sp>
      <p:sp>
        <p:nvSpPr>
          <p:cNvPr id="15" name="Text 11"/>
          <p:cNvSpPr txBox="1"/>
          <p:nvPr/>
        </p:nvSpPr>
        <p:spPr>
          <a:xfrm>
            <a:off x="4389120" y="4572000"/>
            <a:ext cx="2286000" cy="914400"/>
          </a:xfrm>
          <a:prstGeom prst="rect">
            <a:avLst/>
          </a:prstGeom>
          <a:noFill/>
          <a:ln/>
        </p:spPr>
        <p:txBody>
          <a:bodyPr wrap="square" lIns="0" tIns="0" rIns="0" bIns="0" rtlCol="0" anchor="t"/>
          <a:lstStyle/>
          <a:p>
            <a:pPr marL="0" indent="0" algn="ctr">
              <a:buNone/>
            </a:pPr>
            <a:r>
              <a:rPr lang="en-US" sz="1400" dirty="0">
                <a:solidFill>
                  <a:srgbClr val="5E5E63"/>
                </a:solidFill>
                <a:latin typeface="Arial" pitchFamily="34" charset="0"/>
                <a:ea typeface="Arial" pitchFamily="34" charset="-122"/>
                <a:cs typeface="Arial" pitchFamily="34" charset="-120"/>
              </a:rPr>
              <a:t>Point the camera at a scan, get a score live</a:t>
            </a:r>
            <a:endParaRPr lang="en-US" sz="1400" dirty="0"/>
          </a:p>
        </p:txBody>
      </p:sp>
      <p:sp>
        <p:nvSpPr>
          <p:cNvPr id="16" name="deploy-text"/>
          <p:cNvSpPr/>
          <p:nvPr/>
        </p:nvSpPr>
        <p:spPr>
          <a:xfrm>
            <a:off x="7498080" y="1737360"/>
            <a:ext cx="4114800" cy="4389120"/>
          </a:xfrm>
          <a:prstGeom prst="roundRect">
            <a:avLst>
              <a:gd name="adj" fmla="val 4000"/>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7" name="Text 13"/>
          <p:cNvSpPr txBox="1"/>
          <p:nvPr/>
        </p:nvSpPr>
        <p:spPr>
          <a:xfrm>
            <a:off x="7818120" y="2057400"/>
            <a:ext cx="3474720" cy="411480"/>
          </a:xfrm>
          <a:prstGeom prst="rect">
            <a:avLst/>
          </a:prstGeom>
          <a:noFill/>
          <a:ln/>
        </p:spPr>
        <p:txBody>
          <a:bodyPr wrap="square" lIns="0" tIns="0" rIns="0" bIns="0" rtlCol="0" anchor="t"/>
          <a:lstStyle/>
          <a:p>
            <a:pPr marL="0" indent="0">
              <a:buNone/>
            </a:pPr>
            <a:r>
              <a:rPr lang="en-US" sz="2000" b="1" dirty="0">
                <a:solidFill>
                  <a:srgbClr val="1C1C1E"/>
                </a:solidFill>
                <a:latin typeface="Arial" pitchFamily="34" charset="0"/>
                <a:ea typeface="Arial" pitchFamily="34" charset="-122"/>
                <a:cs typeface="Arial" pitchFamily="34" charset="-120"/>
              </a:rPr>
              <a:t>What the app shows</a:t>
            </a:r>
            <a:endParaRPr lang="en-US" sz="2000" dirty="0"/>
          </a:p>
        </p:txBody>
      </p:sp>
      <p:sp>
        <p:nvSpPr>
          <p:cNvPr id="18" name="Text 14"/>
          <p:cNvSpPr txBox="1"/>
          <p:nvPr/>
        </p:nvSpPr>
        <p:spPr>
          <a:xfrm>
            <a:off x="7818120" y="2651760"/>
            <a:ext cx="347472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5E5E63"/>
                </a:solidFill>
                <a:latin typeface="Arial" pitchFamily="34" charset="0"/>
                <a:ea typeface="Arial" pitchFamily="34" charset="-122"/>
                <a:cs typeface="Arial" pitchFamily="34" charset="-120"/>
              </a:rPr>
              <a:t>The image is preprocessed the same way as in training</a:t>
            </a:r>
            <a:endParaRPr lang="en-US" sz="1600" dirty="0"/>
          </a:p>
          <a:p>
            <a:pPr marL="342900" indent="-342900">
              <a:spcAft>
                <a:spcPts val="1000"/>
              </a:spcAft>
              <a:buSzPct val="100000"/>
              <a:buChar char="•"/>
            </a:pPr>
            <a:r>
              <a:rPr lang="en-US" sz="1600" dirty="0">
                <a:solidFill>
                  <a:srgbClr val="5E5E63"/>
                </a:solidFill>
                <a:latin typeface="Arial" pitchFamily="34" charset="0"/>
                <a:ea typeface="Arial" pitchFamily="34" charset="-122"/>
                <a:cs typeface="Arial" pitchFamily="34" charset="-120"/>
              </a:rPr>
              <a:t>The model returns a clot probability</a:t>
            </a:r>
            <a:endParaRPr lang="en-US" sz="1600" dirty="0"/>
          </a:p>
          <a:p>
            <a:pPr marL="342900" indent="-342900">
              <a:spcAft>
                <a:spcPts val="1000"/>
              </a:spcAft>
              <a:buSzPct val="100000"/>
              <a:buChar char="•"/>
            </a:pPr>
            <a:r>
              <a:rPr lang="en-US" sz="1600" dirty="0">
                <a:solidFill>
                  <a:srgbClr val="5E5E63"/>
                </a:solidFill>
                <a:latin typeface="Arial" pitchFamily="34" charset="0"/>
                <a:ea typeface="Arial" pitchFamily="34" charset="-122"/>
                <a:cs typeface="Arial" pitchFamily="34" charset="-120"/>
              </a:rPr>
              <a:t>A PE / no PE flag using our recall-tuned threshold</a:t>
            </a:r>
            <a:endParaRPr lang="en-US" sz="1600" dirty="0"/>
          </a:p>
          <a:p>
            <a:pPr marL="342900" indent="-342900">
              <a:spcAft>
                <a:spcPts val="1000"/>
              </a:spcAft>
              <a:buSzPct val="100000"/>
              <a:buChar char="•"/>
            </a:pPr>
            <a:r>
              <a:rPr lang="en-US" sz="1600" b="1" dirty="0">
                <a:solidFill>
                  <a:srgbClr val="5E5E63"/>
                </a:solidFill>
                <a:latin typeface="Arial" pitchFamily="34" charset="0"/>
                <a:ea typeface="Arial" pitchFamily="34" charset="-122"/>
                <a:cs typeface="Arial" pitchFamily="34" charset="-120"/>
              </a:rPr>
              <a:t>Camera photos lack real CT density values, so treat that mode as a demo</a:t>
            </a:r>
            <a:endParaRPr lang="en-US" sz="1600" b="1"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300" b="1" kern="0" spc="150" dirty="0">
                <a:solidFill>
                  <a:srgbClr val="0058B8"/>
                </a:solidFill>
                <a:latin typeface="Arial" pitchFamily="34" charset="0"/>
                <a:ea typeface="Arial" pitchFamily="34" charset="-122"/>
                <a:cs typeface="Arial" pitchFamily="34" charset="-120"/>
              </a:rPr>
              <a:t>10 · LIMITATIONS</a:t>
            </a:r>
            <a:endParaRPr lang="en-US" sz="1300" dirty="0"/>
          </a:p>
        </p:txBody>
      </p:sp>
      <p:sp>
        <p:nvSpPr>
          <p:cNvPr id="3" name="Text 0"/>
          <p:cNvSpPr>
            <a:spLocks noGrp="1"/>
          </p:cNvSpPr>
          <p:nvPr>
            <p:ph type="title" idx="100"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600" b="1" dirty="0">
                <a:solidFill>
                  <a:srgbClr val="1C1C1E"/>
                </a:solidFill>
                <a:latin typeface="Arial" pitchFamily="34" charset="0"/>
                <a:ea typeface="Arial" pitchFamily="34" charset="-122"/>
                <a:cs typeface="Arial" pitchFamily="34" charset="-120"/>
              </a:rPr>
              <a:t>What to keep in mind</a:t>
            </a:r>
            <a:endParaRPr lang="en-US" sz="3600" dirty="0"/>
          </a:p>
        </p:txBody>
      </p:sp>
      <p:sp>
        <p:nvSpPr>
          <p:cNvPr id="4" name="lim-0"/>
          <p:cNvSpPr/>
          <p:nvPr/>
        </p:nvSpPr>
        <p:spPr>
          <a:xfrm>
            <a:off x="548640" y="1828800"/>
            <a:ext cx="3502152" cy="3931920"/>
          </a:xfrm>
          <a:prstGeom prst="roundRect">
            <a:avLst>
              <a:gd name="adj" fmla="val 4700"/>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5" name="Shape 3"/>
          <p:cNvSpPr/>
          <p:nvPr/>
        </p:nvSpPr>
        <p:spPr>
          <a:xfrm>
            <a:off x="914400" y="2240280"/>
            <a:ext cx="822960" cy="822960"/>
          </a:xfrm>
          <a:prstGeom prst="ellipse">
            <a:avLst/>
          </a:prstGeom>
          <a:solidFill>
            <a:srgbClr val="FFF1DC"/>
          </a:solidFill>
          <a:ln w="12700">
            <a:solidFill>
              <a:srgbClr val="FFF1D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95451" y="2421331"/>
            <a:ext cx="460858" cy="460858"/>
          </a:xfrm>
          <a:prstGeom prst="rect">
            <a:avLst/>
          </a:prstGeom>
        </p:spPr>
      </p:pic>
      <p:sp>
        <p:nvSpPr>
          <p:cNvPr id="7" name="Text 4"/>
          <p:cNvSpPr txBox="1"/>
          <p:nvPr/>
        </p:nvSpPr>
        <p:spPr>
          <a:xfrm>
            <a:off x="914400" y="3337560"/>
            <a:ext cx="2770632" cy="822960"/>
          </a:xfrm>
          <a:prstGeom prst="rect">
            <a:avLst/>
          </a:prstGeom>
          <a:noFill/>
          <a:ln/>
        </p:spPr>
        <p:txBody>
          <a:bodyPr wrap="square" lIns="0" tIns="0" rIns="0" bIns="0" rtlCol="0" anchor="t"/>
          <a:lstStyle/>
          <a:p>
            <a:pPr marL="0" indent="0">
              <a:buNone/>
            </a:pPr>
            <a:r>
              <a:rPr lang="en-US" sz="2200" b="1" dirty="0">
                <a:solidFill>
                  <a:srgbClr val="1C1C1E"/>
                </a:solidFill>
                <a:latin typeface="Arial" pitchFamily="34" charset="0"/>
                <a:ea typeface="Arial" pitchFamily="34" charset="-122"/>
                <a:cs typeface="Arial" pitchFamily="34" charset="-120"/>
              </a:rPr>
              <a:t>Small subset</a:t>
            </a:r>
            <a:endParaRPr lang="en-US" sz="2200" dirty="0"/>
          </a:p>
        </p:txBody>
      </p:sp>
      <p:sp>
        <p:nvSpPr>
          <p:cNvPr id="8" name="Text 5"/>
          <p:cNvSpPr txBox="1"/>
          <p:nvPr/>
        </p:nvSpPr>
        <p:spPr>
          <a:xfrm>
            <a:off x="914400" y="4160520"/>
            <a:ext cx="2770632" cy="1463040"/>
          </a:xfrm>
          <a:prstGeom prst="rect">
            <a:avLst/>
          </a:prstGeom>
          <a:noFill/>
          <a:ln/>
        </p:spPr>
        <p:txBody>
          <a:bodyPr wrap="square" lIns="0" tIns="0" rIns="0" bIns="0" rtlCol="0" anchor="t"/>
          <a:lstStyle/>
          <a:p>
            <a:pPr marL="0" indent="0">
              <a:lnSpc>
                <a:spcPct val="115000"/>
              </a:lnSpc>
              <a:buNone/>
            </a:pPr>
            <a:r>
              <a:rPr lang="en-US" sz="1600" dirty="0">
                <a:solidFill>
                  <a:srgbClr val="5E5E63"/>
                </a:solidFill>
                <a:latin typeface="Arial" pitchFamily="34" charset="0"/>
                <a:ea typeface="Arial" pitchFamily="34" charset="-122"/>
                <a:cs typeface="Arial" pitchFamily="34" charset="-120"/>
              </a:rPr>
              <a:t>1,500 of 7,279 studies. The test set has 225 patients, so results will vary from run to run.</a:t>
            </a:r>
            <a:endParaRPr lang="en-US" sz="1600" dirty="0"/>
          </a:p>
        </p:txBody>
      </p:sp>
      <p:sp>
        <p:nvSpPr>
          <p:cNvPr id="9" name="lim-1"/>
          <p:cNvSpPr/>
          <p:nvPr/>
        </p:nvSpPr>
        <p:spPr>
          <a:xfrm>
            <a:off x="4325112" y="1828800"/>
            <a:ext cx="3502152" cy="3931920"/>
          </a:xfrm>
          <a:prstGeom prst="roundRect">
            <a:avLst>
              <a:gd name="adj" fmla="val 4700"/>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0" name="Shape 7"/>
          <p:cNvSpPr/>
          <p:nvPr/>
        </p:nvSpPr>
        <p:spPr>
          <a:xfrm>
            <a:off x="4690872" y="2240280"/>
            <a:ext cx="822960" cy="822960"/>
          </a:xfrm>
          <a:prstGeom prst="ellipse">
            <a:avLst/>
          </a:prstGeom>
          <a:solidFill>
            <a:srgbClr val="FFE9E7"/>
          </a:solidFill>
          <a:ln w="12700">
            <a:solidFill>
              <a:srgbClr val="FFE9E7"/>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871923" y="2421331"/>
            <a:ext cx="460858" cy="460858"/>
          </a:xfrm>
          <a:prstGeom prst="rect">
            <a:avLst/>
          </a:prstGeom>
        </p:spPr>
      </p:pic>
      <p:sp>
        <p:nvSpPr>
          <p:cNvPr id="12" name="Text 8"/>
          <p:cNvSpPr txBox="1"/>
          <p:nvPr/>
        </p:nvSpPr>
        <p:spPr>
          <a:xfrm>
            <a:off x="4690872" y="3337560"/>
            <a:ext cx="2770632" cy="822960"/>
          </a:xfrm>
          <a:prstGeom prst="rect">
            <a:avLst/>
          </a:prstGeom>
          <a:noFill/>
          <a:ln/>
        </p:spPr>
        <p:txBody>
          <a:bodyPr wrap="square" lIns="0" tIns="0" rIns="0" bIns="0" rtlCol="0" anchor="t"/>
          <a:lstStyle/>
          <a:p>
            <a:pPr marL="0" indent="0">
              <a:buNone/>
            </a:pPr>
            <a:r>
              <a:rPr lang="en-US" sz="2200" b="1" dirty="0">
                <a:solidFill>
                  <a:srgbClr val="1C1C1E"/>
                </a:solidFill>
                <a:latin typeface="Arial" pitchFamily="34" charset="0"/>
                <a:ea typeface="Arial" pitchFamily="34" charset="-122"/>
                <a:cs typeface="Arial" pitchFamily="34" charset="-120"/>
              </a:rPr>
              <a:t>64 slices can skip clots</a:t>
            </a:r>
            <a:endParaRPr lang="en-US" sz="2200" dirty="0"/>
          </a:p>
        </p:txBody>
      </p:sp>
      <p:sp>
        <p:nvSpPr>
          <p:cNvPr id="13" name="Text 9"/>
          <p:cNvSpPr txBox="1"/>
          <p:nvPr/>
        </p:nvSpPr>
        <p:spPr>
          <a:xfrm>
            <a:off x="4690872" y="4160520"/>
            <a:ext cx="2770632" cy="1463040"/>
          </a:xfrm>
          <a:prstGeom prst="rect">
            <a:avLst/>
          </a:prstGeom>
          <a:noFill/>
          <a:ln/>
        </p:spPr>
        <p:txBody>
          <a:bodyPr wrap="square" lIns="0" tIns="0" rIns="0" bIns="0" rtlCol="0" anchor="t"/>
          <a:lstStyle/>
          <a:p>
            <a:pPr marL="0" indent="0">
              <a:lnSpc>
                <a:spcPct val="115000"/>
              </a:lnSpc>
              <a:buNone/>
            </a:pPr>
            <a:r>
              <a:rPr lang="en-US" sz="1600" dirty="0">
                <a:solidFill>
                  <a:srgbClr val="5E5E63"/>
                </a:solidFill>
                <a:latin typeface="Arial" pitchFamily="34" charset="0"/>
                <a:ea typeface="Arial" pitchFamily="34" charset="-122"/>
                <a:cs typeface="Arial" pitchFamily="34" charset="-120"/>
              </a:rPr>
              <a:t>38 of 488 sick patients (7.8%) had no clot in any kept slice, which caps recall at about 92% for slice-based models.</a:t>
            </a:r>
            <a:endParaRPr lang="en-US" sz="1600" dirty="0"/>
          </a:p>
        </p:txBody>
      </p:sp>
      <p:sp>
        <p:nvSpPr>
          <p:cNvPr id="14" name="lim-2"/>
          <p:cNvSpPr/>
          <p:nvPr/>
        </p:nvSpPr>
        <p:spPr>
          <a:xfrm>
            <a:off x="8101584" y="1828800"/>
            <a:ext cx="3502152" cy="3931920"/>
          </a:xfrm>
          <a:prstGeom prst="roundRect">
            <a:avLst>
              <a:gd name="adj" fmla="val 4700"/>
            </a:avLst>
          </a:prstGeom>
          <a:solidFill>
            <a:srgbClr val="FFFFFF"/>
          </a:solidFill>
          <a:ln w="12700">
            <a:solidFill>
              <a:srgbClr val="FFFFFF"/>
            </a:solidFill>
            <a:prstDash val="solid"/>
          </a:ln>
          <a:effectLst>
            <a:outerShdw blurRad="127000" dist="25400" dir="5400000" algn="bl" rotWithShape="0">
              <a:srgbClr val="000000">
                <a:alpha val="8000"/>
              </a:srgbClr>
            </a:outerShdw>
          </a:effectLst>
        </p:spPr>
        <p:txBody>
          <a:bodyPr/>
          <a:lstStyle/>
          <a:p>
            <a:endParaRPr lang="en-US"/>
          </a:p>
        </p:txBody>
      </p:sp>
      <p:sp>
        <p:nvSpPr>
          <p:cNvPr id="15" name="Shape 11"/>
          <p:cNvSpPr/>
          <p:nvPr/>
        </p:nvSpPr>
        <p:spPr>
          <a:xfrm>
            <a:off x="8467344" y="2240280"/>
            <a:ext cx="822960" cy="822960"/>
          </a:xfrm>
          <a:prstGeom prst="ellipse">
            <a:avLst/>
          </a:prstGeom>
          <a:solidFill>
            <a:srgbClr val="E5F0FF"/>
          </a:solidFill>
          <a:ln w="12700">
            <a:solidFill>
              <a:srgbClr val="E5F0F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648395" y="2421331"/>
            <a:ext cx="460858" cy="460858"/>
          </a:xfrm>
          <a:prstGeom prst="rect">
            <a:avLst/>
          </a:prstGeom>
        </p:spPr>
      </p:pic>
      <p:sp>
        <p:nvSpPr>
          <p:cNvPr id="17" name="Text 12"/>
          <p:cNvSpPr txBox="1"/>
          <p:nvPr/>
        </p:nvSpPr>
        <p:spPr>
          <a:xfrm>
            <a:off x="8467344" y="3337560"/>
            <a:ext cx="2770632" cy="822960"/>
          </a:xfrm>
          <a:prstGeom prst="rect">
            <a:avLst/>
          </a:prstGeom>
          <a:noFill/>
          <a:ln/>
        </p:spPr>
        <p:txBody>
          <a:bodyPr wrap="square" lIns="0" tIns="0" rIns="0" bIns="0" rtlCol="0" anchor="t"/>
          <a:lstStyle/>
          <a:p>
            <a:pPr marL="0" indent="0">
              <a:buNone/>
            </a:pPr>
            <a:r>
              <a:rPr lang="en-US" sz="2200" b="1" dirty="0">
                <a:solidFill>
                  <a:srgbClr val="1C1C1E"/>
                </a:solidFill>
                <a:latin typeface="Arial" pitchFamily="34" charset="0"/>
                <a:ea typeface="Arial" pitchFamily="34" charset="-122"/>
                <a:cs typeface="Arial" pitchFamily="34" charset="-120"/>
              </a:rPr>
              <a:t>Research only</a:t>
            </a:r>
            <a:endParaRPr lang="en-US" sz="2200" dirty="0"/>
          </a:p>
        </p:txBody>
      </p:sp>
      <p:sp>
        <p:nvSpPr>
          <p:cNvPr id="18" name="Text 13"/>
          <p:cNvSpPr txBox="1"/>
          <p:nvPr/>
        </p:nvSpPr>
        <p:spPr>
          <a:xfrm>
            <a:off x="8467344" y="4160520"/>
            <a:ext cx="2770632" cy="1463040"/>
          </a:xfrm>
          <a:prstGeom prst="rect">
            <a:avLst/>
          </a:prstGeom>
          <a:noFill/>
          <a:ln/>
        </p:spPr>
        <p:txBody>
          <a:bodyPr wrap="square" lIns="0" tIns="0" rIns="0" bIns="0" rtlCol="0" anchor="t"/>
          <a:lstStyle/>
          <a:p>
            <a:pPr marL="0" indent="0">
              <a:lnSpc>
                <a:spcPct val="115000"/>
              </a:lnSpc>
              <a:buNone/>
            </a:pPr>
            <a:r>
              <a:rPr lang="en-US" sz="1600" dirty="0">
                <a:solidFill>
                  <a:srgbClr val="5E5E63"/>
                </a:solidFill>
                <a:latin typeface="Arial" pitchFamily="34" charset="0"/>
                <a:ea typeface="Arial" pitchFamily="34" charset="-122"/>
                <a:cs typeface="Arial" pitchFamily="34" charset="-120"/>
              </a:rPr>
              <a:t>Not validated for clinical use. Data comes from a few hospitals, so performance elsewhere is unknown.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E5E63"/>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1920240"/>
            <a:ext cx="10698480" cy="1097280"/>
          </a:xfrm>
          <a:prstGeom prst="rect">
            <a:avLst/>
          </a:prstGeom>
          <a:noFill/>
          <a:ln/>
        </p:spPr>
        <p:txBody>
          <a:bodyPr wrap="square" lIns="0" tIns="0" rIns="0" bIns="0" rtlCol="0" anchor="t"/>
          <a:lstStyle/>
          <a:p>
            <a:pPr marL="0" indent="0">
              <a:buNone/>
            </a:pPr>
            <a:r>
              <a:rPr lang="en-US" sz="6000" b="1" dirty="0">
                <a:solidFill>
                  <a:srgbClr val="F2F2F7"/>
                </a:solidFill>
                <a:latin typeface="Arial" pitchFamily="34" charset="0"/>
                <a:ea typeface="Arial" pitchFamily="34" charset="-122"/>
                <a:cs typeface="Arial" pitchFamily="34" charset="-120"/>
              </a:rPr>
              <a:t>Thank you</a:t>
            </a:r>
            <a:endParaRPr lang="en-US" sz="6000" dirty="0"/>
          </a:p>
        </p:txBody>
      </p:sp>
      <p:sp>
        <p:nvSpPr>
          <p:cNvPr id="3" name="Text 1"/>
          <p:cNvSpPr txBox="1"/>
          <p:nvPr/>
        </p:nvSpPr>
        <p:spPr>
          <a:xfrm>
            <a:off x="731520" y="3108960"/>
            <a:ext cx="9144000" cy="548640"/>
          </a:xfrm>
          <a:prstGeom prst="rect">
            <a:avLst/>
          </a:prstGeom>
          <a:noFill/>
          <a:ln/>
        </p:spPr>
        <p:txBody>
          <a:bodyPr wrap="square" lIns="0" tIns="0" rIns="0" bIns="0" rtlCol="0" anchor="t"/>
          <a:lstStyle/>
          <a:p>
            <a:pPr marL="0" indent="0">
              <a:buNone/>
            </a:pPr>
            <a:r>
              <a:rPr lang="en-US" sz="2200" dirty="0">
                <a:solidFill>
                  <a:srgbClr val="AEAEB2"/>
                </a:solidFill>
                <a:latin typeface="Arial" pitchFamily="34" charset="0"/>
                <a:ea typeface="Arial" pitchFamily="34" charset="-122"/>
                <a:cs typeface="Arial" pitchFamily="34" charset="-120"/>
              </a:rPr>
              <a:t>Catch every clot we can, and let doctors handle the double-checks.</a:t>
            </a:r>
            <a:endParaRPr lang="en-US" sz="2200" dirty="0"/>
          </a:p>
        </p:txBody>
      </p:sp>
      <p:sp>
        <p:nvSpPr>
          <p:cNvPr id="4" name="Shape 2"/>
          <p:cNvSpPr/>
          <p:nvPr/>
        </p:nvSpPr>
        <p:spPr>
          <a:xfrm>
            <a:off x="731520" y="4206240"/>
            <a:ext cx="2194560" cy="548640"/>
          </a:xfrm>
          <a:prstGeom prst="roundRect">
            <a:avLst>
              <a:gd name="adj" fmla="val 50000"/>
            </a:avLst>
          </a:prstGeom>
          <a:solidFill>
            <a:srgbClr val="007AFF"/>
          </a:solidFill>
          <a:ln w="12700">
            <a:solidFill>
              <a:srgbClr val="007AFF"/>
            </a:solidFill>
            <a:prstDash val="solid"/>
          </a:ln>
        </p:spPr>
        <p:txBody>
          <a:bodyPr/>
          <a:lstStyle/>
          <a:p>
            <a:endParaRPr lang="en-US"/>
          </a:p>
        </p:txBody>
      </p:sp>
      <p:sp>
        <p:nvSpPr>
          <p:cNvPr id="5" name="Text 3"/>
          <p:cNvSpPr txBox="1"/>
          <p:nvPr/>
        </p:nvSpPr>
        <p:spPr>
          <a:xfrm>
            <a:off x="731520" y="4206240"/>
            <a:ext cx="219456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Questions?</a:t>
            </a:r>
            <a:endParaRPr lang="en-US" sz="1800" dirty="0"/>
          </a:p>
        </p:txBody>
      </p:sp>
    </p:spTree>
  </p:cSld>
  <p:clrMapOvr>
    <a:masterClrMapping/>
  </p:clrMapOvr>
</p:sld>
</file>

<file path=ppt/theme/theme1.xml><?xml version="1.0" encoding="utf-8"?>
<a:theme xmlns:a="http://schemas.openxmlformats.org/drawingml/2006/main" name="PE iOS">
  <a:themeElements>
    <a:clrScheme name="PE iOS">
      <a:dk1>
        <a:srgbClr val="1C1C1E"/>
      </a:dk1>
      <a:lt1>
        <a:srgbClr val="FFFFFF"/>
      </a:lt1>
      <a:dk2>
        <a:srgbClr val="1C1C1E"/>
      </a:dk2>
      <a:lt2>
        <a:srgbClr val="F2F2F7"/>
      </a:lt2>
      <a:accent1>
        <a:srgbClr val="007AFF"/>
      </a:accent1>
      <a:accent2>
        <a:srgbClr val="FF3B30"/>
      </a:accent2>
      <a:accent3>
        <a:srgbClr val="34C759"/>
      </a:accent3>
      <a:accent4>
        <a:srgbClr val="FF9500"/>
      </a:accent4>
      <a:accent5>
        <a:srgbClr val="5856D6"/>
      </a:accent5>
      <a:accent6>
        <a:srgbClr val="8E8E93"/>
      </a:accent6>
      <a:hlink>
        <a:srgbClr val="007AFF"/>
      </a:hlink>
      <a:folHlink>
        <a:srgbClr val="5856D6"/>
      </a:folHlink>
    </a:clrScheme>
    <a:fontScheme name="PE iO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1881</TotalTime>
  <Words>2170</Words>
  <Application>Microsoft Office PowerPoint</Application>
  <PresentationFormat>Widescreen</PresentationFormat>
  <Paragraphs>180</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PE iOS</vt:lpstr>
      <vt:lpstr>PowerPoint Presentation</vt:lpstr>
      <vt:lpstr>A missed clot can be fatal</vt:lpstr>
      <vt:lpstr>RSPECT: expert-labeled chest CT scans</vt:lpstr>
      <vt:lpstr>Turning each scan into model input</vt:lpstr>
      <vt:lpstr>The Augmentation Methods We chose</vt:lpstr>
      <vt:lpstr>ResNet18 reads one slice at a time</vt:lpstr>
      <vt:lpstr>Same data, same rules, three approaches</vt:lpstr>
      <vt:lpstr>Missing a sick patient costs the most</vt:lpstr>
      <vt:lpstr>Split by patient, judged on four metrics</vt:lpstr>
      <vt:lpstr>Test set results</vt:lpstr>
      <vt:lpstr>Try it live with Gradio</vt:lpstr>
      <vt:lpstr>What to keep in mind</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 detection - study version</dc:title>
  <dc:subject>PptxGenJS Presentation</dc:subject>
  <dc:creator>PptxGenJS</dc:creator>
  <cp:lastModifiedBy>SULTANH ZABIN H ALOTAIBI</cp:lastModifiedBy>
  <cp:revision>3</cp:revision>
  <dcterms:created xsi:type="dcterms:W3CDTF">2026-10-08T00:24:13Z</dcterms:created>
  <dcterms:modified xsi:type="dcterms:W3CDTF">2026-10-09T14:15:26Z</dcterms:modified>
</cp:coreProperties>
</file>